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7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4" r:id="rId40"/>
    <p:sldId id="295" r:id="rId41"/>
    <p:sldId id="296" r:id="rId4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slide" Target="slides/slide40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72C11C-6A03-4AA9-8CF3-4B24FCFE7FF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195162-612F-487D-A562-4787EAB8E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180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195162-612F-487D-A562-4787EAB8E37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301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55511" y="2061209"/>
            <a:ext cx="4536440" cy="3810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EB7B2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7" Type="http://schemas.openxmlformats.org/officeDocument/2006/relationships/image" Target="../media/image1.png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8600" y="233019"/>
            <a:ext cx="11726545" cy="638657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14193" y="609422"/>
            <a:ext cx="9028811" cy="10641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42796" y="1783079"/>
            <a:ext cx="10184765" cy="4334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3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4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4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4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4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 /><Relationship Id="rId2" Type="http://schemas.openxmlformats.org/officeDocument/2006/relationships/image" Target="../media/image6.jpg" /><Relationship Id="rId1" Type="http://schemas.openxmlformats.org/officeDocument/2006/relationships/slideLayout" Target="../slideLayouts/slideLayout4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 /><Relationship Id="rId2" Type="http://schemas.openxmlformats.org/officeDocument/2006/relationships/image" Target="../media/image6.jpg" /><Relationship Id="rId1" Type="http://schemas.openxmlformats.org/officeDocument/2006/relationships/slideLayout" Target="../slideLayouts/slideLayout4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4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4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4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.jpg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4.xml" 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 /><Relationship Id="rId2" Type="http://schemas.openxmlformats.org/officeDocument/2006/relationships/image" Target="../media/image6.jpg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14.jpg" 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16.jpg" 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 /><Relationship Id="rId2" Type="http://schemas.openxmlformats.org/officeDocument/2006/relationships/image" Target="../media/image6.jpg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18.jpg" 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 /><Relationship Id="rId3" Type="http://schemas.openxmlformats.org/officeDocument/2006/relationships/image" Target="../media/image20.png" /><Relationship Id="rId7" Type="http://schemas.openxmlformats.org/officeDocument/2006/relationships/image" Target="../media/image24.png" /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4.xml" /><Relationship Id="rId6" Type="http://schemas.openxmlformats.org/officeDocument/2006/relationships/image" Target="../media/image23.png" /><Relationship Id="rId5" Type="http://schemas.openxmlformats.org/officeDocument/2006/relationships/image" Target="../media/image22.png" /><Relationship Id="rId4" Type="http://schemas.openxmlformats.org/officeDocument/2006/relationships/image" Target="../media/image21.png" 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 /><Relationship Id="rId2" Type="http://schemas.openxmlformats.org/officeDocument/2006/relationships/image" Target="../media/image6.jpg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27.jpg" 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 /><Relationship Id="rId2" Type="http://schemas.openxmlformats.org/officeDocument/2006/relationships/image" Target="../media/image6.jpg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29.jpg" 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31.jpg" 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33.jpg" 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 /><Relationship Id="rId2" Type="http://schemas.openxmlformats.org/officeDocument/2006/relationships/image" Target="../media/image34.jpg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2.jpg" 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image" Target="../media/image36.jpg" /><Relationship Id="rId1" Type="http://schemas.openxmlformats.org/officeDocument/2006/relationships/slideLayout" Target="../slideLayouts/slideLayout4.xml" /><Relationship Id="rId4" Type="http://schemas.openxmlformats.org/officeDocument/2006/relationships/image" Target="../media/image37.jpg" 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 /><Relationship Id="rId1" Type="http://schemas.openxmlformats.org/officeDocument/2006/relationships/slideLayout" Target="../slideLayouts/slideLayout2.xml" 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 /><Relationship Id="rId1" Type="http://schemas.openxmlformats.org/officeDocument/2006/relationships/slideLayout" Target="../slideLayouts/slideLayout2.xml" 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868" rIns="0" bIns="0" rtlCol="0">
            <a:spAutoFit/>
          </a:bodyPr>
          <a:lstStyle/>
          <a:p>
            <a:pPr marL="271907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Times New Roman"/>
                <a:cs typeface="Times New Roman"/>
              </a:rPr>
              <a:t>Second</a:t>
            </a:r>
            <a:r>
              <a:rPr sz="1800" b="0" spc="-40" dirty="0">
                <a:latin typeface="Times New Roman"/>
                <a:cs typeface="Times New Roman"/>
              </a:rPr>
              <a:t> </a:t>
            </a:r>
            <a:r>
              <a:rPr sz="1800" b="0" spc="-10" dirty="0">
                <a:latin typeface="Times New Roman"/>
                <a:cs typeface="Times New Roman"/>
              </a:rPr>
              <a:t>review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04874" y="2152344"/>
            <a:ext cx="9171940" cy="173482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 indent="2540" algn="ctr">
              <a:lnSpc>
                <a:spcPts val="4320"/>
              </a:lnSpc>
              <a:spcBef>
                <a:spcPts val="655"/>
              </a:spcBef>
            </a:pPr>
            <a:r>
              <a:rPr sz="4000" b="1" dirty="0">
                <a:solidFill>
                  <a:srgbClr val="393838"/>
                </a:solidFill>
                <a:latin typeface="Arial"/>
                <a:cs typeface="Arial"/>
              </a:rPr>
              <a:t>Predictive</a:t>
            </a:r>
            <a:r>
              <a:rPr sz="4000" b="1" spc="-45" dirty="0">
                <a:solidFill>
                  <a:srgbClr val="393838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393838"/>
                </a:solidFill>
                <a:latin typeface="Arial"/>
                <a:cs typeface="Arial"/>
              </a:rPr>
              <a:t>Modelling</a:t>
            </a:r>
            <a:r>
              <a:rPr sz="4000" b="1" spc="-45" dirty="0">
                <a:solidFill>
                  <a:srgbClr val="393838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393838"/>
                </a:solidFill>
                <a:latin typeface="Arial"/>
                <a:cs typeface="Arial"/>
              </a:rPr>
              <a:t>of</a:t>
            </a:r>
            <a:r>
              <a:rPr sz="4000" b="1" spc="-35" dirty="0">
                <a:solidFill>
                  <a:srgbClr val="393838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393838"/>
                </a:solidFill>
                <a:latin typeface="Arial"/>
                <a:cs typeface="Arial"/>
              </a:rPr>
              <a:t>Fitness</a:t>
            </a:r>
            <a:r>
              <a:rPr sz="4000" b="1" spc="-30" dirty="0">
                <a:solidFill>
                  <a:srgbClr val="393838"/>
                </a:solidFill>
                <a:latin typeface="Arial"/>
                <a:cs typeface="Arial"/>
              </a:rPr>
              <a:t> </a:t>
            </a:r>
            <a:r>
              <a:rPr sz="4000" b="1" spc="-20" dirty="0">
                <a:solidFill>
                  <a:srgbClr val="393838"/>
                </a:solidFill>
                <a:latin typeface="Arial"/>
                <a:cs typeface="Arial"/>
              </a:rPr>
              <a:t>Goal </a:t>
            </a:r>
            <a:r>
              <a:rPr sz="4000" b="1" dirty="0">
                <a:solidFill>
                  <a:srgbClr val="393838"/>
                </a:solidFill>
                <a:latin typeface="Arial"/>
                <a:cs typeface="Arial"/>
              </a:rPr>
              <a:t>Achievement</a:t>
            </a:r>
            <a:r>
              <a:rPr sz="4000" b="1" spc="-55" dirty="0">
                <a:solidFill>
                  <a:srgbClr val="393838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393838"/>
                </a:solidFill>
                <a:latin typeface="Arial"/>
                <a:cs typeface="Arial"/>
              </a:rPr>
              <a:t>Using</a:t>
            </a:r>
            <a:r>
              <a:rPr sz="4000" b="1" spc="-155" dirty="0">
                <a:solidFill>
                  <a:srgbClr val="393838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393838"/>
                </a:solidFill>
                <a:latin typeface="Arial"/>
                <a:cs typeface="Arial"/>
              </a:rPr>
              <a:t>Machine</a:t>
            </a:r>
            <a:r>
              <a:rPr sz="4000" b="1" spc="-175" dirty="0">
                <a:solidFill>
                  <a:srgbClr val="393838"/>
                </a:solidFill>
                <a:latin typeface="Arial"/>
                <a:cs typeface="Arial"/>
              </a:rPr>
              <a:t> </a:t>
            </a:r>
            <a:r>
              <a:rPr sz="4000" b="1" spc="-10" dirty="0">
                <a:solidFill>
                  <a:srgbClr val="393838"/>
                </a:solidFill>
                <a:latin typeface="Arial"/>
                <a:cs typeface="Arial"/>
              </a:rPr>
              <a:t>Learning </a:t>
            </a:r>
            <a:r>
              <a:rPr sz="4000" b="1" dirty="0">
                <a:solidFill>
                  <a:srgbClr val="393838"/>
                </a:solidFill>
                <a:latin typeface="Arial"/>
                <a:cs typeface="Arial"/>
              </a:rPr>
              <a:t>and</a:t>
            </a:r>
            <a:r>
              <a:rPr sz="4000" b="1" spc="-35" dirty="0">
                <a:solidFill>
                  <a:srgbClr val="393838"/>
                </a:solidFill>
                <a:latin typeface="Arial"/>
                <a:cs typeface="Arial"/>
              </a:rPr>
              <a:t> </a:t>
            </a:r>
            <a:r>
              <a:rPr sz="4000" b="1" spc="-10" dirty="0">
                <a:solidFill>
                  <a:srgbClr val="393838"/>
                </a:solidFill>
                <a:latin typeface="Arial"/>
                <a:cs typeface="Arial"/>
              </a:rPr>
              <a:t>Real-</a:t>
            </a:r>
            <a:r>
              <a:rPr sz="4000" b="1" dirty="0">
                <a:solidFill>
                  <a:srgbClr val="393838"/>
                </a:solidFill>
                <a:latin typeface="Arial"/>
                <a:cs typeface="Arial"/>
              </a:rPr>
              <a:t>Life</a:t>
            </a:r>
            <a:r>
              <a:rPr sz="4000" b="1" spc="-25" dirty="0">
                <a:solidFill>
                  <a:srgbClr val="393838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393838"/>
                </a:solidFill>
                <a:latin typeface="Arial"/>
                <a:cs typeface="Arial"/>
              </a:rPr>
              <a:t>User</a:t>
            </a:r>
            <a:r>
              <a:rPr sz="4000" b="1" spc="-20" dirty="0">
                <a:solidFill>
                  <a:srgbClr val="393838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393838"/>
                </a:solidFill>
                <a:latin typeface="Arial"/>
                <a:cs typeface="Arial"/>
              </a:rPr>
              <a:t>Training</a:t>
            </a:r>
            <a:r>
              <a:rPr sz="4000" b="1" spc="-40" dirty="0">
                <a:solidFill>
                  <a:srgbClr val="393838"/>
                </a:solidFill>
                <a:latin typeface="Arial"/>
                <a:cs typeface="Arial"/>
              </a:rPr>
              <a:t> </a:t>
            </a:r>
            <a:r>
              <a:rPr sz="4000" b="1" spc="-20" dirty="0">
                <a:solidFill>
                  <a:srgbClr val="393838"/>
                </a:solidFill>
                <a:latin typeface="Arial"/>
                <a:cs typeface="Arial"/>
              </a:rPr>
              <a:t>Data</a:t>
            </a:r>
            <a:endParaRPr sz="4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9531" y="5180457"/>
            <a:ext cx="3858260" cy="107759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ct val="94500"/>
              </a:lnSpc>
              <a:spcBef>
                <a:spcPts val="215"/>
              </a:spcBef>
            </a:pPr>
            <a:r>
              <a:rPr sz="1800" spc="-20" dirty="0">
                <a:solidFill>
                  <a:srgbClr val="242424"/>
                </a:solidFill>
                <a:latin typeface="Times New Roman"/>
                <a:cs typeface="Times New Roman"/>
              </a:rPr>
              <a:t>Guide</a:t>
            </a:r>
            <a:r>
              <a:rPr sz="1800" spc="-8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242424"/>
                </a:solidFill>
                <a:latin typeface="Times New Roman"/>
                <a:cs typeface="Times New Roman"/>
              </a:rPr>
              <a:t>name:</a:t>
            </a:r>
            <a:r>
              <a:rPr sz="1800" spc="-4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IN" spc="-2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800" spc="-25" dirty="0">
                <a:solidFill>
                  <a:srgbClr val="242424"/>
                </a:solidFill>
                <a:latin typeface="Times New Roman"/>
                <a:cs typeface="Times New Roman"/>
              </a:rPr>
              <a:t>r.</a:t>
            </a:r>
            <a:r>
              <a:rPr sz="1800" spc="-7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242424"/>
                </a:solidFill>
                <a:latin typeface="Times New Roman"/>
                <a:cs typeface="Times New Roman"/>
              </a:rPr>
              <a:t>Vaddi</a:t>
            </a:r>
            <a:r>
              <a:rPr sz="1800" spc="-7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42424"/>
                </a:solidFill>
                <a:latin typeface="Times New Roman"/>
                <a:cs typeface="Times New Roman"/>
              </a:rPr>
              <a:t>Venkata</a:t>
            </a:r>
            <a:r>
              <a:rPr sz="1800" spc="-8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42424"/>
                </a:solidFill>
                <a:latin typeface="Times New Roman"/>
                <a:cs typeface="Times New Roman"/>
              </a:rPr>
              <a:t>Narayana </a:t>
            </a:r>
            <a:r>
              <a:rPr sz="1800" dirty="0">
                <a:solidFill>
                  <a:srgbClr val="242424"/>
                </a:solidFill>
                <a:latin typeface="Times New Roman"/>
                <a:cs typeface="Times New Roman"/>
              </a:rPr>
              <a:t>Designation:</a:t>
            </a:r>
            <a:r>
              <a:rPr sz="1800" spc="-5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42424"/>
                </a:solidFill>
                <a:latin typeface="Times New Roman"/>
                <a:cs typeface="Times New Roman"/>
              </a:rPr>
              <a:t>Assistant</a:t>
            </a:r>
            <a:r>
              <a:rPr sz="1800" spc="-6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42424"/>
                </a:solidFill>
                <a:latin typeface="Times New Roman"/>
                <a:cs typeface="Times New Roman"/>
              </a:rPr>
              <a:t>Professor </a:t>
            </a:r>
            <a:r>
              <a:rPr sz="1800" dirty="0">
                <a:solidFill>
                  <a:srgbClr val="242424"/>
                </a:solidFill>
                <a:latin typeface="Times New Roman"/>
                <a:cs typeface="Times New Roman"/>
              </a:rPr>
              <a:t>Department:</a:t>
            </a:r>
            <a:r>
              <a:rPr sz="1800" spc="-7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42424"/>
                </a:solidFill>
                <a:latin typeface="Times New Roman"/>
                <a:cs typeface="Times New Roman"/>
              </a:rPr>
              <a:t>Networking</a:t>
            </a:r>
            <a:r>
              <a:rPr sz="1800" spc="-8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42424"/>
                </a:solidFill>
                <a:latin typeface="Times New Roman"/>
                <a:cs typeface="Times New Roman"/>
              </a:rPr>
              <a:t>and </a:t>
            </a:r>
            <a:r>
              <a:rPr sz="1800" spc="-10" dirty="0">
                <a:solidFill>
                  <a:srgbClr val="242424"/>
                </a:solidFill>
                <a:latin typeface="Times New Roman"/>
                <a:cs typeface="Times New Roman"/>
              </a:rPr>
              <a:t>Communications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9096" y="4948809"/>
            <a:ext cx="2183765" cy="1370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7620" algn="r">
              <a:lnSpc>
                <a:spcPct val="100000"/>
              </a:lnSpc>
              <a:spcBef>
                <a:spcPts val="90"/>
              </a:spcBef>
            </a:pPr>
            <a:r>
              <a:rPr sz="1450" dirty="0">
                <a:solidFill>
                  <a:srgbClr val="242424"/>
                </a:solidFill>
                <a:latin typeface="Times New Roman"/>
                <a:cs typeface="Times New Roman"/>
              </a:rPr>
              <a:t>Reg.</a:t>
            </a:r>
            <a:r>
              <a:rPr sz="1450" spc="4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242424"/>
                </a:solidFill>
                <a:latin typeface="Times New Roman"/>
                <a:cs typeface="Times New Roman"/>
              </a:rPr>
              <a:t>No:</a:t>
            </a:r>
            <a:r>
              <a:rPr sz="1450" spc="-2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242424"/>
                </a:solidFill>
                <a:latin typeface="Times New Roman"/>
                <a:cs typeface="Times New Roman"/>
              </a:rPr>
              <a:t>RA2211028010063</a:t>
            </a:r>
            <a:endParaRPr sz="1450">
              <a:latin typeface="Times New Roman"/>
              <a:cs typeface="Times New Roman"/>
            </a:endParaRPr>
          </a:p>
          <a:p>
            <a:pPr marL="12700" marR="7620" indent="194945" algn="r">
              <a:lnSpc>
                <a:spcPct val="100800"/>
              </a:lnSpc>
              <a:spcBef>
                <a:spcPts val="20"/>
              </a:spcBef>
            </a:pPr>
            <a:r>
              <a:rPr sz="1450" dirty="0">
                <a:solidFill>
                  <a:srgbClr val="242424"/>
                </a:solidFill>
                <a:latin typeface="Times New Roman"/>
                <a:cs typeface="Times New Roman"/>
              </a:rPr>
              <a:t>Name:</a:t>
            </a:r>
            <a:r>
              <a:rPr sz="1450" spc="-2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242424"/>
                </a:solidFill>
                <a:latin typeface="Times New Roman"/>
                <a:cs typeface="Times New Roman"/>
              </a:rPr>
              <a:t>Mohammed</a:t>
            </a:r>
            <a:r>
              <a:rPr sz="1450" spc="15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450" spc="-20" dirty="0">
                <a:solidFill>
                  <a:srgbClr val="242424"/>
                </a:solidFill>
                <a:latin typeface="Times New Roman"/>
                <a:cs typeface="Times New Roman"/>
              </a:rPr>
              <a:t>Lamih </a:t>
            </a:r>
            <a:r>
              <a:rPr sz="1450" dirty="0">
                <a:solidFill>
                  <a:srgbClr val="242424"/>
                </a:solidFill>
                <a:latin typeface="Times New Roman"/>
                <a:cs typeface="Times New Roman"/>
              </a:rPr>
              <a:t>Reg.</a:t>
            </a:r>
            <a:r>
              <a:rPr sz="1450" spc="4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242424"/>
                </a:solidFill>
                <a:latin typeface="Times New Roman"/>
                <a:cs typeface="Times New Roman"/>
              </a:rPr>
              <a:t>No:</a:t>
            </a:r>
            <a:r>
              <a:rPr sz="1450" spc="-2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242424"/>
                </a:solidFill>
                <a:latin typeface="Times New Roman"/>
                <a:cs typeface="Times New Roman"/>
              </a:rPr>
              <a:t>RA2211028010085</a:t>
            </a:r>
            <a:endParaRPr sz="1450">
              <a:latin typeface="Times New Roman"/>
              <a:cs typeface="Times New Roman"/>
            </a:endParaRPr>
          </a:p>
          <a:p>
            <a:pPr marL="12700" marR="7620" indent="139700" algn="r">
              <a:lnSpc>
                <a:spcPct val="102099"/>
              </a:lnSpc>
              <a:spcBef>
                <a:spcPts val="25"/>
              </a:spcBef>
            </a:pPr>
            <a:r>
              <a:rPr sz="1450" dirty="0">
                <a:solidFill>
                  <a:srgbClr val="242424"/>
                </a:solidFill>
                <a:latin typeface="Times New Roman"/>
                <a:cs typeface="Times New Roman"/>
              </a:rPr>
              <a:t>Name</a:t>
            </a:r>
            <a:r>
              <a:rPr sz="1450" spc="6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242424"/>
                </a:solidFill>
                <a:latin typeface="Times New Roman"/>
                <a:cs typeface="Times New Roman"/>
              </a:rPr>
              <a:t>:</a:t>
            </a:r>
            <a:r>
              <a:rPr sz="1450" spc="-3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242424"/>
                </a:solidFill>
                <a:latin typeface="Times New Roman"/>
                <a:cs typeface="Times New Roman"/>
              </a:rPr>
              <a:t>Nishith</a:t>
            </a:r>
            <a:r>
              <a:rPr sz="1450" spc="6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242424"/>
                </a:solidFill>
                <a:latin typeface="Times New Roman"/>
                <a:cs typeface="Times New Roman"/>
              </a:rPr>
              <a:t>Kashimalla </a:t>
            </a:r>
            <a:r>
              <a:rPr sz="1450" dirty="0">
                <a:solidFill>
                  <a:srgbClr val="242424"/>
                </a:solidFill>
                <a:latin typeface="Times New Roman"/>
                <a:cs typeface="Times New Roman"/>
              </a:rPr>
              <a:t>Reg.</a:t>
            </a:r>
            <a:r>
              <a:rPr sz="1450" spc="4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242424"/>
                </a:solidFill>
                <a:latin typeface="Times New Roman"/>
                <a:cs typeface="Times New Roman"/>
              </a:rPr>
              <a:t>No:</a:t>
            </a:r>
            <a:r>
              <a:rPr sz="1450" spc="-2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242424"/>
                </a:solidFill>
                <a:latin typeface="Times New Roman"/>
                <a:cs typeface="Times New Roman"/>
              </a:rPr>
              <a:t>RA2211028010171</a:t>
            </a:r>
            <a:endParaRPr sz="14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5"/>
              </a:spcBef>
            </a:pPr>
            <a:r>
              <a:rPr sz="1450" spc="-10" dirty="0">
                <a:solidFill>
                  <a:srgbClr val="242424"/>
                </a:solidFill>
                <a:latin typeface="Times New Roman"/>
                <a:cs typeface="Times New Roman"/>
              </a:rPr>
              <a:t>Name:</a:t>
            </a:r>
            <a:r>
              <a:rPr sz="1450" spc="-8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242424"/>
                </a:solidFill>
                <a:latin typeface="Times New Roman"/>
                <a:cs typeface="Times New Roman"/>
              </a:rPr>
              <a:t>Y.</a:t>
            </a:r>
            <a:r>
              <a:rPr sz="1450" spc="-6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242424"/>
                </a:solidFill>
                <a:latin typeface="Times New Roman"/>
                <a:cs typeface="Times New Roman"/>
              </a:rPr>
              <a:t>Yaswanth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37490" y="297815"/>
            <a:ext cx="2308860" cy="1051560"/>
            <a:chOff x="237490" y="297815"/>
            <a:chExt cx="2308860" cy="1051560"/>
          </a:xfrm>
        </p:grpSpPr>
        <p:sp>
          <p:nvSpPr>
            <p:cNvPr id="7" name="object 7"/>
            <p:cNvSpPr/>
            <p:nvPr/>
          </p:nvSpPr>
          <p:spPr>
            <a:xfrm>
              <a:off x="1250187" y="327533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914400"/>
                  </a:lnTo>
                </a:path>
              </a:pathLst>
            </a:custGeom>
            <a:ln w="4575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490" y="297815"/>
              <a:ext cx="2308860" cy="10515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7668" rIns="0" bIns="0" rtlCol="0">
            <a:spAutoFit/>
          </a:bodyPr>
          <a:lstStyle/>
          <a:p>
            <a:pPr marL="2981325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ABSTRACT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1538986" y="1914525"/>
            <a:ext cx="9867265" cy="393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Times New Roman"/>
                <a:cs typeface="Times New Roman"/>
              </a:rPr>
              <a:t>Current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fitness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programs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often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rely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generic </a:t>
            </a:r>
            <a:r>
              <a:rPr sz="1800" spc="-10" dirty="0">
                <a:latin typeface="Times New Roman"/>
                <a:cs typeface="Times New Roman"/>
              </a:rPr>
              <a:t>workout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nutrition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plans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without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considering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individual</a:t>
            </a:r>
            <a:endParaRPr sz="18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490"/>
              </a:spcBef>
            </a:pPr>
            <a:r>
              <a:rPr sz="1800" dirty="0">
                <a:latin typeface="Times New Roman"/>
                <a:cs typeface="Times New Roman"/>
              </a:rPr>
              <a:t>differences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such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body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composition,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metabolism,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lifestyle,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health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conditions.</a:t>
            </a:r>
            <a:endParaRPr sz="1800">
              <a:latin typeface="Times New Roman"/>
              <a:cs typeface="Times New Roman"/>
            </a:endParaRPr>
          </a:p>
          <a:p>
            <a:pPr marL="241300" marR="184785" indent="-229235">
              <a:lnSpc>
                <a:spcPct val="169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Times New Roman"/>
                <a:cs typeface="Times New Roman"/>
              </a:rPr>
              <a:t>Despite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growth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of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digital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fitness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platforms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wearable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devices,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large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amount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of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generated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user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effectively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personalized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recommendations.</a:t>
            </a:r>
            <a:endParaRPr sz="1800">
              <a:latin typeface="Times New Roman"/>
              <a:cs typeface="Times New Roman"/>
            </a:endParaRPr>
          </a:p>
          <a:p>
            <a:pPr marL="241300" marR="465455" indent="-229235">
              <a:lnSpc>
                <a:spcPct val="17000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results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inconsistent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training,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slow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progress,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reduced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motivation,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potential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health risks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for </a:t>
            </a:r>
            <a:r>
              <a:rPr sz="1800" dirty="0">
                <a:latin typeface="Times New Roman"/>
                <a:cs typeface="Times New Roman"/>
              </a:rPr>
              <a:t>individuals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aiming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achieve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fitness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goals.</a:t>
            </a:r>
            <a:endParaRPr sz="1800">
              <a:latin typeface="Times New Roman"/>
              <a:cs typeface="Times New Roman"/>
            </a:endParaRPr>
          </a:p>
          <a:p>
            <a:pPr marL="241300" marR="445770" indent="-229235">
              <a:lnSpc>
                <a:spcPct val="16900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Times New Roman"/>
                <a:cs typeface="Times New Roman"/>
              </a:rPr>
              <a:t>Therefore,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there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intelligent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machine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learning–based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analyzes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data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 </a:t>
            </a:r>
            <a:r>
              <a:rPr sz="1800" dirty="0">
                <a:latin typeface="Times New Roman"/>
                <a:cs typeface="Times New Roman"/>
              </a:rPr>
              <a:t>provide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personalized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workout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nutrition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recommendations.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39432"/>
            <a:ext cx="1636395" cy="617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5725" y="749630"/>
            <a:ext cx="441452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PROBLEM</a:t>
            </a:r>
            <a:r>
              <a:rPr sz="3000" spc="-175" dirty="0"/>
              <a:t> </a:t>
            </a:r>
            <a:r>
              <a:rPr sz="3000" spc="-10" dirty="0"/>
              <a:t>STATEMENT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1538986" y="1612772"/>
            <a:ext cx="9703435" cy="4044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Many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existing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fitness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programs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rely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generic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workout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routines and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nutrition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plans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do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not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1800" dirty="0">
                <a:latin typeface="Times New Roman"/>
                <a:cs typeface="Times New Roman"/>
              </a:rPr>
              <a:t>consider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individual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differences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such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body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composition,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metabolism,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lifestyle,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health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conditions,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70600"/>
              </a:lnSpc>
              <a:spcBef>
                <a:spcPts val="10"/>
              </a:spcBef>
            </a:pPr>
            <a:r>
              <a:rPr sz="1800" dirty="0">
                <a:latin typeface="Times New Roman"/>
                <a:cs typeface="Times New Roman"/>
              </a:rPr>
              <a:t>making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difficult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users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achieve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their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specific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fitness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goals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effectively.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Although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digital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fitness </a:t>
            </a:r>
            <a:r>
              <a:rPr sz="1800" dirty="0">
                <a:latin typeface="Times New Roman"/>
                <a:cs typeface="Times New Roman"/>
              </a:rPr>
              <a:t>platforms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wearable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technologies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generate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large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volumes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health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training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data,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is </a:t>
            </a:r>
            <a:r>
              <a:rPr sz="1800" dirty="0">
                <a:latin typeface="Times New Roman"/>
                <a:cs typeface="Times New Roman"/>
              </a:rPr>
              <a:t>often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underutilized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not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intelligently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analyzed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provide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personalized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fitness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recommendations.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As </a:t>
            </a:r>
            <a:r>
              <a:rPr sz="1800" spc="-10" dirty="0">
                <a:latin typeface="Times New Roman"/>
                <a:cs typeface="Times New Roman"/>
              </a:rPr>
              <a:t>a</a:t>
            </a:r>
            <a:r>
              <a:rPr sz="1800" spc="-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result,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individuals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aiming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weight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loss,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muscle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gain,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endurance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improvement,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overall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wellness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may </a:t>
            </a:r>
            <a:r>
              <a:rPr sz="1800" dirty="0">
                <a:latin typeface="Times New Roman"/>
                <a:cs typeface="Times New Roman"/>
              </a:rPr>
              <a:t>experience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inconsistent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training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guidance,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slow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progress,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reduced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motivation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while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ineffective </a:t>
            </a:r>
            <a:r>
              <a:rPr sz="1800" dirty="0">
                <a:latin typeface="Times New Roman"/>
                <a:cs typeface="Times New Roman"/>
              </a:rPr>
              <a:t>workout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nutrition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planning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lead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physical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strain,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nutritional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imbalance,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decreased performance,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potential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long-term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health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risks</a:t>
            </a:r>
            <a:r>
              <a:rPr sz="1800" spc="-10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39432"/>
            <a:ext cx="1636395" cy="617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146" y="603326"/>
            <a:ext cx="306324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INTRODUCTION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1346961" y="1594485"/>
            <a:ext cx="10261600" cy="3843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2920" indent="-228600">
              <a:lnSpc>
                <a:spcPct val="13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spc="-10" dirty="0">
                <a:latin typeface="Times New Roman"/>
                <a:cs typeface="Times New Roman"/>
              </a:rPr>
              <a:t>The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increasing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awareness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of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health,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fitness,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lifestyle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management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has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created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growing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demand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for </a:t>
            </a:r>
            <a:r>
              <a:rPr sz="1800" dirty="0">
                <a:latin typeface="Times New Roman"/>
                <a:cs typeface="Times New Roman"/>
              </a:rPr>
              <a:t>intelligent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systems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provide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personalized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workout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nutrition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recommendations.</a:t>
            </a:r>
            <a:endParaRPr sz="18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300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work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focuses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developing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intelligent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fitness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goal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achievement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predicts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suitable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workout </a:t>
            </a:r>
            <a:r>
              <a:rPr sz="1800" dirty="0">
                <a:latin typeface="Times New Roman"/>
                <a:cs typeface="Times New Roman"/>
              </a:rPr>
              <a:t>exercises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nutrition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plans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real-</a:t>
            </a:r>
            <a:r>
              <a:rPr sz="1800" dirty="0">
                <a:latin typeface="Times New Roman"/>
                <a:cs typeface="Times New Roman"/>
              </a:rPr>
              <a:t>life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training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data.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analyzing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structured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personal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physical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attributes,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generates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tailored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recommendations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aligned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individual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objectives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such</a:t>
            </a:r>
            <a:r>
              <a:rPr sz="1800" spc="-25" dirty="0">
                <a:latin typeface="Times New Roman"/>
                <a:cs typeface="Times New Roman"/>
              </a:rPr>
              <a:t> as </a:t>
            </a:r>
            <a:r>
              <a:rPr sz="1800" dirty="0">
                <a:latin typeface="Times New Roman"/>
                <a:cs typeface="Times New Roman"/>
              </a:rPr>
              <a:t>weight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loss,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muscle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gain,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endurance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improvement,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general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wellness.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platform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emphasizes </a:t>
            </a:r>
            <a:r>
              <a:rPr sz="1800" dirty="0">
                <a:latin typeface="Times New Roman"/>
                <a:cs typeface="Times New Roman"/>
              </a:rPr>
              <a:t>personalization,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accuracy,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practical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usability.</a:t>
            </a:r>
            <a:endParaRPr sz="1800">
              <a:latin typeface="Times New Roman"/>
              <a:cs typeface="Times New Roman"/>
            </a:endParaRPr>
          </a:p>
          <a:p>
            <a:pPr marL="241300" marR="60960" indent="-228600">
              <a:lnSpc>
                <a:spcPct val="1300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combining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predictive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intelligence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 a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user-</a:t>
            </a:r>
            <a:r>
              <a:rPr sz="1800" dirty="0">
                <a:latin typeface="Times New Roman"/>
                <a:cs typeface="Times New Roman"/>
              </a:rPr>
              <a:t>friendly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web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interface,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supports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informed decision-</a:t>
            </a:r>
            <a:r>
              <a:rPr sz="1800" dirty="0">
                <a:latin typeface="Times New Roman"/>
                <a:cs typeface="Times New Roman"/>
              </a:rPr>
              <a:t>making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promotes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consistent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fitness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progress.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overall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framework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contributes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toward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smarter </a:t>
            </a:r>
            <a:r>
              <a:rPr sz="1800" dirty="0">
                <a:latin typeface="Times New Roman"/>
                <a:cs typeface="Times New Roman"/>
              </a:rPr>
              <a:t>digital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health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solutions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bridge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gap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between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analysis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personalized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fitness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planning.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39432"/>
            <a:ext cx="1636395" cy="617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888" rIns="0" bIns="0" rtlCol="0">
            <a:spAutoFit/>
          </a:bodyPr>
          <a:lstStyle/>
          <a:p>
            <a:pPr marL="83185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LITERATURE</a:t>
            </a:r>
            <a:r>
              <a:rPr spc="-120" dirty="0"/>
              <a:t> </a:t>
            </a:r>
            <a:r>
              <a:rPr spc="-10" dirty="0"/>
              <a:t>SURVEY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47648" y="1820544"/>
          <a:ext cx="10518771" cy="4716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8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3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1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7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93980">
                        <a:lnSpc>
                          <a:spcPts val="167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3980">
                        <a:lnSpc>
                          <a:spcPts val="1670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Title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Methodology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Accuracy/Result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marR="160020">
                        <a:lnSpc>
                          <a:spcPts val="1660"/>
                        </a:lnSpc>
                        <a:spcBef>
                          <a:spcPts val="37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Identification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Gaps</a:t>
                      </a:r>
                      <a:r>
                        <a:rPr sz="14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Limitations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9770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marR="134620">
                        <a:lnSpc>
                          <a:spcPct val="99600"/>
                        </a:lnSpc>
                        <a:spcBef>
                          <a:spcPts val="31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Enhancing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Fitness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Action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Recognition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ResNet-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TransFit: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Integrating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IoT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Techniques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Monitoring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-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Zheng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Li,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Yifan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Zhang,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Haoran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Wang,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al.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7155" marR="566420">
                        <a:lnSpc>
                          <a:spcPts val="1680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Alexandria</a:t>
                      </a:r>
                      <a:r>
                        <a:rPr sz="14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Engineering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Journal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(Elsevier),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2024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 marR="311150">
                        <a:lnSpc>
                          <a:spcPct val="99300"/>
                        </a:lnSpc>
                        <a:spcBef>
                          <a:spcPts val="31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hybrid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ResNet-TransFit architecture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combined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ResNet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for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spatial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extraction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Transformer for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temporal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sequence modeling.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marR="168275">
                        <a:lnSpc>
                          <a:spcPts val="1660"/>
                        </a:lnSpc>
                        <a:spcBef>
                          <a:spcPts val="37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hybrid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achieved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93.7%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accuracy,</a:t>
                      </a:r>
                      <a:r>
                        <a:rPr sz="14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48.5</a:t>
                      </a:r>
                      <a:r>
                        <a:rPr sz="14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ms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latency,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7155">
                        <a:lnSpc>
                          <a:spcPts val="165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29.1</a:t>
                      </a:r>
                      <a:r>
                        <a:rPr sz="14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fps</a:t>
                      </a:r>
                      <a:r>
                        <a:rPr sz="14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throughput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marR="250190">
                        <a:lnSpc>
                          <a:spcPct val="99500"/>
                        </a:lnSpc>
                        <a:spcBef>
                          <a:spcPts val="31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architecture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exhibits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computational complexity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memory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consumption,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limiting deployment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4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resource- constrained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devices.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5489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marR="129539">
                        <a:lnSpc>
                          <a:spcPct val="99500"/>
                        </a:lnSpc>
                        <a:spcBef>
                          <a:spcPts val="33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Construction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Sports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Performance Prediction</a:t>
                      </a:r>
                      <a:r>
                        <a:rPr sz="1400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Generative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Adversarial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Deep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Algorithm-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Jianhua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Liu,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Xiaoyan</a:t>
                      </a:r>
                      <a:r>
                        <a:rPr sz="14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Wang,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Yong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Chen,</a:t>
                      </a:r>
                      <a:r>
                        <a:rPr sz="14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Computational Intelligence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and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Neuroscience (Hindawi/Wiley),</a:t>
                      </a:r>
                      <a:r>
                        <a:rPr sz="14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2022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 marR="203200">
                        <a:lnSpc>
                          <a:spcPct val="99600"/>
                        </a:lnSpc>
                        <a:spcBef>
                          <a:spcPts val="334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multigenerative</a:t>
                      </a:r>
                      <a:r>
                        <a:rPr sz="14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adversarial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deep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reconstruction sampling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enhanced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gradient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stability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reduced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time.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marR="150495">
                        <a:lnSpc>
                          <a:spcPct val="99500"/>
                        </a:lnSpc>
                        <a:spcBef>
                          <a:spcPts val="33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Reconstruction</a:t>
                      </a:r>
                      <a:r>
                        <a:rPr sz="14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sampling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effectively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mitigated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gradient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vanishing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accelerated convergence.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Attention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weighting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enhanced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4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discrimination,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leading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reliable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sports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prediction</a:t>
                      </a:r>
                      <a:r>
                        <a:rPr sz="14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demonstrating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superiority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over baseline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approaches.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marR="151765">
                        <a:lnSpc>
                          <a:spcPct val="99400"/>
                        </a:lnSpc>
                        <a:spcBef>
                          <a:spcPts val="33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deployment feasibility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4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fully validated,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comparison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lightweight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traditional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machine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was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insufficient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assessing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efficiency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trade-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offs.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39432"/>
            <a:ext cx="1636395" cy="617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888" rIns="0" bIns="0" rtlCol="0">
            <a:spAutoFit/>
          </a:bodyPr>
          <a:lstStyle/>
          <a:p>
            <a:pPr marL="78613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LITERATURE</a:t>
            </a:r>
            <a:r>
              <a:rPr spc="-120" dirty="0"/>
              <a:t> </a:t>
            </a:r>
            <a:r>
              <a:rPr spc="-10" dirty="0"/>
              <a:t>SURVEY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47648" y="1820544"/>
          <a:ext cx="10940413" cy="4719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5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6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94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L="93980">
                        <a:lnSpc>
                          <a:spcPts val="167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3980">
                        <a:lnSpc>
                          <a:spcPts val="1670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Title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Methodology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Accuracy/Result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 marR="245110">
                        <a:lnSpc>
                          <a:spcPts val="1660"/>
                        </a:lnSpc>
                        <a:spcBef>
                          <a:spcPts val="37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Identification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Gaps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Limitations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1020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 marR="182245">
                        <a:lnSpc>
                          <a:spcPct val="996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Keeping</a:t>
                      </a:r>
                      <a:r>
                        <a:rPr sz="14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People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Active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Healthy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Home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Reinforcement Learning-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4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Fitness Recommendation</a:t>
                      </a:r>
                      <a:r>
                        <a:rPr sz="14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Framework- Tomasz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Wozniak,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Dietmar</a:t>
                      </a:r>
                      <a:r>
                        <a:rPr sz="14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Jannach,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Paul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Resnick,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Proceedings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IJCAI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(International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Joint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Conference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Artificial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Intelligence),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2023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 marR="4775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reinforcement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framework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generated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sequences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bodyweight exercises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through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 neural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network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trained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simulator.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marR="132715">
                        <a:lnSpc>
                          <a:spcPct val="996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reinforcement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learning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approach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demonstrated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significantly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higher engagement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compared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baseline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recommender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during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15-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week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deployment.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 marR="1225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participant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pool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exercise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types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were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limited,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reducing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generalizability.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00330" marR="138430">
                        <a:lnSpc>
                          <a:spcPct val="99300"/>
                        </a:lnSpc>
                        <a:spcBef>
                          <a:spcPts val="3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Long-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term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sustainability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beyond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trial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duration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energy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consumption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devices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were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not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thoroughly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examined.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0775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 marR="154305">
                        <a:lnSpc>
                          <a:spcPct val="99600"/>
                        </a:lnSpc>
                        <a:spcBef>
                          <a:spcPts val="31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Dynamic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Physical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Activity Recommendation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Delivered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through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Fitness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App: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Deep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Approach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3980" marR="172085">
                        <a:lnSpc>
                          <a:spcPct val="997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Vairavasundaram Subramaniyaswamy,</a:t>
                      </a:r>
                      <a:r>
                        <a:rPr sz="14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Varadarajan Vijayakumar,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Srinivasan</a:t>
                      </a:r>
                      <a:r>
                        <a:rPr sz="14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Deepthi,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et 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Srinivasan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Deepthi,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al.,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Axioms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(MDPI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Journal),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2022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 marR="161290">
                        <a:lnSpc>
                          <a:spcPct val="99600"/>
                        </a:lnSpc>
                        <a:spcBef>
                          <a:spcPts val="31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two-level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clustering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framework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grouped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users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physiological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attributes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historical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step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patterns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533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participants.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Forest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classified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users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4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partial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complete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features,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while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spline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fitting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supported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pattern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extraction.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marR="140335">
                        <a:lnSpc>
                          <a:spcPct val="99700"/>
                        </a:lnSpc>
                        <a:spcBef>
                          <a:spcPts val="31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LSTM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predictor achieved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highest accuracy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about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97.8%, outperforming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SVM,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RNN,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Forest.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7155" marR="243204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Classification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complete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reached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7155">
                        <a:lnSpc>
                          <a:spcPts val="166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0.97</a:t>
                      </a:r>
                      <a:r>
                        <a:rPr sz="14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accuracy,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while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7155" marR="11811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partial-feature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classification achieved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0.82.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 marR="132080">
                        <a:lnSpc>
                          <a:spcPct val="99600"/>
                        </a:lnSpc>
                        <a:spcBef>
                          <a:spcPts val="31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Heavy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dependence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step-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count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overlooks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other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activity</a:t>
                      </a:r>
                      <a:r>
                        <a:rPr sz="14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modalities.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Privacy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security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considerations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continuous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monitoring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were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minimally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discussed,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computational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overhead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learning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affect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end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device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performance.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39432"/>
            <a:ext cx="1636395" cy="617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8004" y="725246"/>
            <a:ext cx="444690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LITERATURE</a:t>
            </a:r>
            <a:r>
              <a:rPr spc="-120" dirty="0"/>
              <a:t> </a:t>
            </a:r>
            <a:r>
              <a:rPr spc="-10" dirty="0"/>
              <a:t>SURVEY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4151" y="1570354"/>
          <a:ext cx="10937239" cy="3280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4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88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5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8015">
                <a:tc>
                  <a:txBody>
                    <a:bodyPr/>
                    <a:lstStyle/>
                    <a:p>
                      <a:pPr marL="97790">
                        <a:lnSpc>
                          <a:spcPts val="167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7790">
                        <a:lnSpc>
                          <a:spcPts val="1670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Title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Methodology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Accuracy/Result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marR="245110">
                        <a:lnSpc>
                          <a:spcPts val="1660"/>
                        </a:lnSpc>
                        <a:spcBef>
                          <a:spcPts val="37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Identification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Gaps</a:t>
                      </a:r>
                      <a:r>
                        <a:rPr sz="14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Limitations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239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marR="3822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Physical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Activity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Monitoring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Classification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Machine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Techniques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7155">
                        <a:lnSpc>
                          <a:spcPts val="166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Saeed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Ali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Alsareii,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Muhammad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7155" marR="152400">
                        <a:lnSpc>
                          <a:spcPts val="1660"/>
                        </a:lnSpc>
                        <a:spcBef>
                          <a:spcPts val="10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Awais,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Abdulrahman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Manaa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Alamri,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Life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(MDPI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Journal),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2022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 marR="185420">
                        <a:lnSpc>
                          <a:spcPct val="99600"/>
                        </a:lnSpc>
                        <a:spcBef>
                          <a:spcPts val="29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Wearable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smartphone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sensors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collected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triaxial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accelerometer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gyroscope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signals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30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participants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performing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daily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activities.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preprocessing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extraction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frequency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domains,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multiple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classifiers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such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SVM,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XGBoost,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Gradient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Boosting,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CatBoost,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AdaBoost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variants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were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trained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under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balanced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intentionally imbalanced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distributions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evaluate sensitivity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class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imbalance.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 marR="102870">
                        <a:lnSpc>
                          <a:spcPct val="996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classifiers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achieved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strong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recognition performance,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weighted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SVM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delivering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best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above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96%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balanced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maintaining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above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80%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under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imbalance.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marR="219075">
                        <a:lnSpc>
                          <a:spcPct val="996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learning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approaches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were</a:t>
                      </a:r>
                      <a:r>
                        <a:rPr sz="14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explored,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sample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size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relatively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small,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which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restrict scalability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robustness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diverse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activity patterns.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39432"/>
            <a:ext cx="1636395" cy="617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1712C-7C85-818A-82F8-06BBEC315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1407" y="494189"/>
            <a:ext cx="9028811" cy="492443"/>
          </a:xfrm>
        </p:spPr>
        <p:txBody>
          <a:bodyPr/>
          <a:lstStyle/>
          <a:p>
            <a:r>
              <a:rPr lang="en-IN" dirty="0"/>
              <a:t>          DATASET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A41B8-1FDE-2390-3109-2F65E4800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5453" y="1905000"/>
            <a:ext cx="10184765" cy="2769989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Fitness Goal Achievement Dataset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KaggleLink:https://www.kaggle.com/datasets/ayyappanmarimuthu/fitness-goal-achievement-dataset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contains user lifestyle and fitness related attributes.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features such as age, gender, workout frequency, diet type, sleep duration, and calorie intake.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analyze behavioural patterns affecting fitness goal achievement.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train machine learning models to predict whether a user can achieve their fitness goals</a:t>
            </a:r>
            <a:r>
              <a:rPr lang="en-US" sz="2000" dirty="0"/>
              <a:t>.</a:t>
            </a:r>
            <a:endParaRPr lang="en-IN" sz="20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5D32812A-4C55-86D3-E82B-F3042A58F88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369552"/>
            <a:ext cx="1636395" cy="617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56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217" rIns="0" bIns="0" rtlCol="0">
            <a:spAutoFit/>
          </a:bodyPr>
          <a:lstStyle/>
          <a:p>
            <a:pPr marL="106045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DISADVANTAGES</a:t>
            </a:r>
            <a:r>
              <a:rPr spc="-145" dirty="0"/>
              <a:t> </a:t>
            </a:r>
            <a:r>
              <a:rPr spc="-20" dirty="0"/>
              <a:t>OF</a:t>
            </a:r>
            <a:r>
              <a:rPr spc="-135" dirty="0"/>
              <a:t> </a:t>
            </a:r>
            <a:r>
              <a:rPr spc="-35" dirty="0"/>
              <a:t>EXISTING</a:t>
            </a:r>
            <a:r>
              <a:rPr spc="-155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43840" marR="236854" indent="-231775">
              <a:lnSpc>
                <a:spcPct val="130600"/>
              </a:lnSpc>
              <a:spcBef>
                <a:spcPts val="115"/>
              </a:spcBef>
              <a:buFont typeface="Arial MT"/>
              <a:buChar char="•"/>
              <a:tabLst>
                <a:tab pos="243840" algn="l"/>
              </a:tabLst>
            </a:pPr>
            <a:r>
              <a:rPr sz="1800" dirty="0">
                <a:latin typeface="Times New Roman"/>
                <a:cs typeface="Times New Roman"/>
              </a:rPr>
              <a:t>Existing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mainly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emphasize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activity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monitoring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health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risk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detection,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lacking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comprehensive </a:t>
            </a:r>
            <a:r>
              <a:rPr sz="1800" dirty="0">
                <a:latin typeface="Times New Roman"/>
                <a:cs typeface="Times New Roman"/>
              </a:rPr>
              <a:t>personalization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both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workout</a:t>
            </a:r>
            <a:r>
              <a:rPr sz="1800" spc="-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exercises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nutrition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planning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within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single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integrated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interactive </a:t>
            </a:r>
            <a:r>
              <a:rPr sz="1800" dirty="0">
                <a:latin typeface="Times New Roman"/>
                <a:cs typeface="Times New Roman"/>
              </a:rPr>
              <a:t>digital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environment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individual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fitness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goal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achievement.</a:t>
            </a:r>
            <a:endParaRPr sz="1800" dirty="0">
              <a:latin typeface="Times New Roman"/>
              <a:cs typeface="Times New Roman"/>
            </a:endParaRPr>
          </a:p>
          <a:p>
            <a:pPr marL="243840" marR="141605" indent="-231775">
              <a:lnSpc>
                <a:spcPct val="130100"/>
              </a:lnSpc>
              <a:spcBef>
                <a:spcPts val="955"/>
              </a:spcBef>
              <a:buFont typeface="Arial MT"/>
              <a:buChar char="•"/>
              <a:tabLst>
                <a:tab pos="243840" algn="l"/>
              </a:tabLst>
            </a:pPr>
            <a:r>
              <a:rPr sz="1800" dirty="0">
                <a:latin typeface="Times New Roman"/>
                <a:cs typeface="Times New Roman"/>
              </a:rPr>
              <a:t>Many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platforms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depend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heavily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wearable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sensor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data,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limiting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accessibility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users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without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specialized </a:t>
            </a:r>
            <a:r>
              <a:rPr sz="1800" dirty="0">
                <a:latin typeface="Times New Roman"/>
                <a:cs typeface="Times New Roman"/>
              </a:rPr>
              <a:t>devices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reducing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inclusivity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broader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populations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seeking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personalized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fitness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guidance.</a:t>
            </a:r>
            <a:endParaRPr sz="1800" dirty="0">
              <a:latin typeface="Times New Roman"/>
              <a:cs typeface="Times New Roman"/>
            </a:endParaRPr>
          </a:p>
          <a:p>
            <a:pPr marL="243840" marR="601980" indent="-231775" algn="just">
              <a:lnSpc>
                <a:spcPct val="130100"/>
              </a:lnSpc>
              <a:spcBef>
                <a:spcPts val="1010"/>
              </a:spcBef>
              <a:buFont typeface="Arial MT"/>
              <a:buChar char="•"/>
              <a:tabLst>
                <a:tab pos="243840" algn="l"/>
              </a:tabLst>
            </a:pPr>
            <a:r>
              <a:rPr sz="1800" dirty="0">
                <a:latin typeface="Times New Roman"/>
                <a:cs typeface="Times New Roman"/>
              </a:rPr>
              <a:t>Interpretability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mechanisms are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often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limited,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providing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predictions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classifications without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detailed </a:t>
            </a:r>
            <a:r>
              <a:rPr sz="1800" dirty="0">
                <a:latin typeface="Times New Roman"/>
                <a:cs typeface="Times New Roman"/>
              </a:rPr>
              <a:t>explanations, which may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reduce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user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trust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hinder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informed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decision-</a:t>
            </a:r>
            <a:r>
              <a:rPr sz="1800" dirty="0">
                <a:latin typeface="Times New Roman"/>
                <a:cs typeface="Times New Roman"/>
              </a:rPr>
              <a:t>making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regarding fitness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lifestyle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adjustments.</a:t>
            </a:r>
            <a:endParaRPr sz="1800" dirty="0">
              <a:latin typeface="Times New Roman"/>
              <a:cs typeface="Times New Roman"/>
            </a:endParaRPr>
          </a:p>
          <a:p>
            <a:pPr marL="243840" marR="5080" indent="-231775">
              <a:lnSpc>
                <a:spcPct val="130100"/>
              </a:lnSpc>
              <a:spcBef>
                <a:spcPts val="1005"/>
              </a:spcBef>
              <a:buFont typeface="Arial MT"/>
              <a:buChar char="•"/>
              <a:tabLst>
                <a:tab pos="243840" algn="l"/>
              </a:tabLst>
            </a:pPr>
            <a:r>
              <a:rPr sz="1800" dirty="0">
                <a:latin typeface="Times New Roman"/>
                <a:cs typeface="Times New Roman"/>
              </a:rPr>
              <a:t>Integration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between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monitoring,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prediction,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interaction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components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frequently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fragmented, </a:t>
            </a:r>
            <a:r>
              <a:rPr sz="1800" dirty="0">
                <a:latin typeface="Times New Roman"/>
                <a:cs typeface="Times New Roman"/>
              </a:rPr>
              <a:t>resulting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10" dirty="0">
                <a:latin typeface="Times New Roman"/>
                <a:cs typeface="Times New Roman"/>
              </a:rPr>
              <a:t> separate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analytical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outputs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rather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</a:t>
            </a:r>
            <a:r>
              <a:rPr sz="1800" spc="-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unified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delivering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complete,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goal-</a:t>
            </a:r>
            <a:r>
              <a:rPr sz="1800" dirty="0">
                <a:latin typeface="Times New Roman"/>
                <a:cs typeface="Times New Roman"/>
              </a:rPr>
              <a:t>oriented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fitness recommendations.</a:t>
            </a:r>
            <a:endParaRPr sz="18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39432"/>
            <a:ext cx="1636395" cy="617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793" rIns="0" bIns="0" rtlCol="0">
            <a:spAutoFit/>
          </a:bodyPr>
          <a:lstStyle/>
          <a:p>
            <a:pPr marL="1801495">
              <a:lnSpc>
                <a:spcPct val="100000"/>
              </a:lnSpc>
              <a:spcBef>
                <a:spcPts val="95"/>
              </a:spcBef>
            </a:pPr>
            <a:r>
              <a:rPr dirty="0"/>
              <a:t>PROPOSED</a:t>
            </a:r>
            <a:r>
              <a:rPr spc="-165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6220" y="1829180"/>
            <a:ext cx="10631805" cy="4416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40665" algn="l"/>
              </a:tabLst>
            </a:pPr>
            <a:r>
              <a:rPr sz="1550" dirty="0">
                <a:latin typeface="Times New Roman"/>
                <a:cs typeface="Times New Roman"/>
              </a:rPr>
              <a:t>The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system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introduces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intelligent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predictive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framework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designed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to</a:t>
            </a:r>
            <a:r>
              <a:rPr sz="1550" spc="-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generate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personalized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workout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exercises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nutrition</a:t>
            </a:r>
            <a:endParaRPr sz="1550">
              <a:latin typeface="Times New Roman"/>
              <a:cs typeface="Times New Roman"/>
            </a:endParaRPr>
          </a:p>
          <a:p>
            <a:pPr marL="240665" marR="214629">
              <a:lnSpc>
                <a:spcPct val="163900"/>
              </a:lnSpc>
            </a:pPr>
            <a:r>
              <a:rPr sz="1550" dirty="0">
                <a:latin typeface="Times New Roman"/>
                <a:cs typeface="Times New Roman"/>
              </a:rPr>
              <a:t>plans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using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supervised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machine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learning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techniques.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It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incorporates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multiple</a:t>
            </a:r>
            <a:r>
              <a:rPr sz="1550" spc="20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classification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models,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including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Random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Forest, </a:t>
            </a:r>
            <a:r>
              <a:rPr sz="1550" dirty="0">
                <a:latin typeface="Times New Roman"/>
                <a:cs typeface="Times New Roman"/>
              </a:rPr>
              <a:t>Decision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Tree,</a:t>
            </a:r>
            <a:r>
              <a:rPr sz="1550" spc="-20" dirty="0">
                <a:latin typeface="Times New Roman"/>
                <a:cs typeface="Times New Roman"/>
              </a:rPr>
              <a:t> K-</a:t>
            </a:r>
            <a:r>
              <a:rPr sz="1550" dirty="0">
                <a:latin typeface="Times New Roman"/>
                <a:cs typeface="Times New Roman"/>
              </a:rPr>
              <a:t>Nearest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Neighbors,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XGBoost,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CatBoost,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</a:t>
            </a:r>
            <a:r>
              <a:rPr sz="1550" spc="-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Voting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Classifier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ensemble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that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combines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diverse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learning</a:t>
            </a:r>
            <a:endParaRPr sz="155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  <a:spcBef>
                <a:spcPts val="1215"/>
              </a:spcBef>
            </a:pPr>
            <a:r>
              <a:rPr sz="1550" dirty="0">
                <a:latin typeface="Times New Roman"/>
                <a:cs typeface="Times New Roman"/>
              </a:rPr>
              <a:t>strategies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to</a:t>
            </a:r>
            <a:r>
              <a:rPr sz="1550" spc="-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enhance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prediction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robustness.</a:t>
            </a:r>
            <a:endParaRPr sz="1550">
              <a:latin typeface="Times New Roman"/>
              <a:cs typeface="Times New Roman"/>
            </a:endParaRPr>
          </a:p>
          <a:p>
            <a:pPr marL="240665" marR="34290" indent="-228600">
              <a:lnSpc>
                <a:spcPct val="164800"/>
              </a:lnSpc>
              <a:spcBef>
                <a:spcPts val="1015"/>
              </a:spcBef>
              <a:buFont typeface="Arial MT"/>
              <a:buChar char="•"/>
              <a:tabLst>
                <a:tab pos="240665" algn="l"/>
              </a:tabLst>
            </a:pPr>
            <a:r>
              <a:rPr sz="1550" dirty="0">
                <a:latin typeface="Times New Roman"/>
                <a:cs typeface="Times New Roman"/>
              </a:rPr>
              <a:t>LIME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is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employed</a:t>
            </a:r>
            <a:r>
              <a:rPr sz="1550" spc="20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to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provide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local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explanations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for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individual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predictions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by</a:t>
            </a:r>
            <a:r>
              <a:rPr sz="1550" spc="-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identifying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influential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features,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while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SHAP </a:t>
            </a:r>
            <a:r>
              <a:rPr sz="1550" dirty="0">
                <a:latin typeface="Times New Roman"/>
                <a:cs typeface="Times New Roman"/>
              </a:rPr>
              <a:t>offers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global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feature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contribution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analysis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to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improve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transparency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 trust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recommendation</a:t>
            </a:r>
            <a:r>
              <a:rPr sz="1550" spc="20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outputs.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For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real-</a:t>
            </a:r>
            <a:r>
              <a:rPr sz="1550" spc="-20" dirty="0">
                <a:latin typeface="Times New Roman"/>
                <a:cs typeface="Times New Roman"/>
              </a:rPr>
              <a:t>time </a:t>
            </a:r>
            <a:r>
              <a:rPr sz="1550" dirty="0">
                <a:latin typeface="Times New Roman"/>
                <a:cs typeface="Times New Roman"/>
              </a:rPr>
              <a:t>accessibility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user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interaction,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web-</a:t>
            </a:r>
            <a:r>
              <a:rPr sz="1550" dirty="0">
                <a:latin typeface="Times New Roman"/>
                <a:cs typeface="Times New Roman"/>
              </a:rPr>
              <a:t>based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interface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is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developed</a:t>
            </a:r>
            <a:r>
              <a:rPr sz="1550" spc="1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using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the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Flask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framework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with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secure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user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authentication </a:t>
            </a:r>
            <a:r>
              <a:rPr sz="1550" dirty="0">
                <a:latin typeface="Times New Roman"/>
                <a:cs typeface="Times New Roman"/>
              </a:rPr>
              <a:t>supported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by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SQLite.</a:t>
            </a:r>
            <a:endParaRPr sz="1550">
              <a:latin typeface="Times New Roman"/>
              <a:cs typeface="Times New Roman"/>
            </a:endParaRPr>
          </a:p>
          <a:p>
            <a:pPr marL="238125" marR="5080" indent="-226060" algn="just">
              <a:lnSpc>
                <a:spcPct val="165900"/>
              </a:lnSpc>
              <a:spcBef>
                <a:spcPts val="1000"/>
              </a:spcBef>
              <a:buFont typeface="Arial MT"/>
              <a:buChar char="•"/>
              <a:tabLst>
                <a:tab pos="240665" algn="l"/>
              </a:tabLst>
            </a:pPr>
            <a:r>
              <a:rPr sz="1550" dirty="0">
                <a:latin typeface="Times New Roman"/>
                <a:cs typeface="Times New Roman"/>
              </a:rPr>
              <a:t>The</a:t>
            </a:r>
            <a:r>
              <a:rPr sz="1550" spc="1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application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collects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user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inputs,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processes</a:t>
            </a:r>
            <a:r>
              <a:rPr sz="1550" spc="1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them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through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the</a:t>
            </a:r>
            <a:r>
              <a:rPr sz="1550" spc="1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trained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models,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delivers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categorized</a:t>
            </a:r>
            <a:r>
              <a:rPr sz="1550" spc="2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workout</a:t>
            </a:r>
            <a:r>
              <a:rPr sz="1550" spc="1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nutrition 	</a:t>
            </a:r>
            <a:r>
              <a:rPr sz="1550" dirty="0">
                <a:latin typeface="Times New Roman"/>
                <a:cs typeface="Times New Roman"/>
              </a:rPr>
              <a:t>recommendations.</a:t>
            </a:r>
            <a:r>
              <a:rPr sz="1550" spc="2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This</a:t>
            </a:r>
            <a:r>
              <a:rPr sz="1550" spc="2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integrated</a:t>
            </a:r>
            <a:r>
              <a:rPr sz="1550" spc="2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framework</a:t>
            </a:r>
            <a:r>
              <a:rPr sz="1550" spc="2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ensures</a:t>
            </a:r>
            <a:r>
              <a:rPr sz="1550" spc="2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intelligent</a:t>
            </a:r>
            <a:r>
              <a:rPr sz="1550" spc="2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prediction,</a:t>
            </a:r>
            <a:r>
              <a:rPr sz="1550" spc="2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interpretability,</a:t>
            </a:r>
            <a:r>
              <a:rPr sz="1550" spc="2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2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practical</a:t>
            </a:r>
            <a:r>
              <a:rPr sz="1550" spc="20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deployment</a:t>
            </a:r>
            <a:r>
              <a:rPr sz="1550" spc="2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within</a:t>
            </a:r>
            <a:r>
              <a:rPr sz="1550" spc="340" dirty="0">
                <a:latin typeface="Times New Roman"/>
                <a:cs typeface="Times New Roman"/>
              </a:rPr>
              <a:t> </a:t>
            </a:r>
            <a:r>
              <a:rPr sz="1550" spc="-50" dirty="0">
                <a:latin typeface="Times New Roman"/>
                <a:cs typeface="Times New Roman"/>
              </a:rPr>
              <a:t>a 	</a:t>
            </a:r>
            <a:r>
              <a:rPr sz="1550" dirty="0">
                <a:latin typeface="Times New Roman"/>
                <a:cs typeface="Times New Roman"/>
              </a:rPr>
              <a:t>unified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fitness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recommendation</a:t>
            </a:r>
            <a:r>
              <a:rPr sz="1550" spc="-10" dirty="0">
                <a:latin typeface="Times New Roman"/>
                <a:cs typeface="Times New Roman"/>
              </a:rPr>
              <a:t> environment.</a:t>
            </a:r>
            <a:endParaRPr sz="15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39432"/>
            <a:ext cx="1636395" cy="617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217" rIns="0" bIns="0" rtlCol="0">
            <a:spAutoFit/>
          </a:bodyPr>
          <a:lstStyle/>
          <a:p>
            <a:pPr marL="106045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ADVANTAGES</a:t>
            </a:r>
            <a:r>
              <a:rPr spc="-145" dirty="0"/>
              <a:t> </a:t>
            </a:r>
            <a:r>
              <a:rPr spc="-50" dirty="0"/>
              <a:t>OF</a:t>
            </a:r>
            <a:r>
              <a:rPr spc="-120" dirty="0"/>
              <a:t> </a:t>
            </a:r>
            <a:r>
              <a:rPr spc="-40" dirty="0"/>
              <a:t>PROPOSED</a:t>
            </a:r>
            <a:r>
              <a:rPr spc="-135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6586" y="1911095"/>
            <a:ext cx="9807575" cy="32677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1300" marR="5080" indent="-228600">
              <a:lnSpc>
                <a:spcPct val="134900"/>
              </a:lnSpc>
              <a:spcBef>
                <a:spcPts val="110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dirty="0">
                <a:latin typeface="Times New Roman"/>
                <a:cs typeface="Times New Roman"/>
              </a:rPr>
              <a:t>The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system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delivers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comprehensive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personalization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by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predicting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both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workout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exercises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nutrition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plans,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ensuring </a:t>
            </a:r>
            <a:r>
              <a:rPr sz="1550" dirty="0">
                <a:latin typeface="Times New Roman"/>
                <a:cs typeface="Times New Roman"/>
              </a:rPr>
              <a:t>holistic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fitness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guidance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aligned</a:t>
            </a:r>
            <a:r>
              <a:rPr sz="1550" spc="1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with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individual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physical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characteristics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lifestyle</a:t>
            </a:r>
            <a:r>
              <a:rPr sz="1550" spc="2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goals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within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single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unified platform.</a:t>
            </a:r>
            <a:endParaRPr sz="1550">
              <a:latin typeface="Times New Roman"/>
              <a:cs typeface="Times New Roman"/>
            </a:endParaRPr>
          </a:p>
          <a:p>
            <a:pPr marL="241300" marR="312420" indent="-228600">
              <a:lnSpc>
                <a:spcPct val="13300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dirty="0">
                <a:latin typeface="Times New Roman"/>
                <a:cs typeface="Times New Roman"/>
              </a:rPr>
              <a:t>It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integrates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multiple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classification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strategies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within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ensemble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framework,</a:t>
            </a:r>
            <a:r>
              <a:rPr sz="1550" spc="1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enhancing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prediction</a:t>
            </a:r>
            <a:r>
              <a:rPr sz="1550" spc="20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robustness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Times New Roman"/>
                <a:cs typeface="Times New Roman"/>
              </a:rPr>
              <a:t>and </a:t>
            </a:r>
            <a:r>
              <a:rPr sz="1550" dirty="0">
                <a:latin typeface="Times New Roman"/>
                <a:cs typeface="Times New Roman"/>
              </a:rPr>
              <a:t>ensuring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consistent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performance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across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diverse</a:t>
            </a:r>
            <a:r>
              <a:rPr sz="1550" spc="1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user</a:t>
            </a:r>
            <a:r>
              <a:rPr sz="1550" spc="10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profiles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fitness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objectives.</a:t>
            </a:r>
            <a:endParaRPr sz="1550">
              <a:latin typeface="Times New Roman"/>
              <a:cs typeface="Times New Roman"/>
            </a:endParaRPr>
          </a:p>
          <a:p>
            <a:pPr marL="241300" marR="138430" indent="-228600">
              <a:lnSpc>
                <a:spcPct val="1356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dirty="0">
                <a:latin typeface="Times New Roman"/>
                <a:cs typeface="Times New Roman"/>
              </a:rPr>
              <a:t>Explainable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AI</a:t>
            </a:r>
            <a:r>
              <a:rPr sz="1550" spc="-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techniques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provide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transparent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local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global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feature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insights,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improving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user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trust,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interpretability,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understanding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of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how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recommendations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are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generated.</a:t>
            </a:r>
            <a:endParaRPr sz="1550">
              <a:latin typeface="Times New Roman"/>
              <a:cs typeface="Times New Roman"/>
            </a:endParaRPr>
          </a:p>
          <a:p>
            <a:pPr marL="241300" marR="489584" indent="-228600">
              <a:lnSpc>
                <a:spcPct val="133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dirty="0">
                <a:latin typeface="Times New Roman"/>
                <a:cs typeface="Times New Roman"/>
              </a:rPr>
              <a:t>A</a:t>
            </a:r>
            <a:r>
              <a:rPr sz="1550" spc="-8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web-</a:t>
            </a:r>
            <a:r>
              <a:rPr sz="1550" dirty="0">
                <a:latin typeface="Times New Roman"/>
                <a:cs typeface="Times New Roman"/>
              </a:rPr>
              <a:t>based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interface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with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secure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authentication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enables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real-</a:t>
            </a:r>
            <a:r>
              <a:rPr sz="1550" dirty="0">
                <a:latin typeface="Times New Roman"/>
                <a:cs typeface="Times New Roman"/>
              </a:rPr>
              <a:t>time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accessibility,</a:t>
            </a:r>
            <a:r>
              <a:rPr sz="1550" spc="1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structured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user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interaction,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Times New Roman"/>
                <a:cs typeface="Times New Roman"/>
              </a:rPr>
              <a:t>and </a:t>
            </a:r>
            <a:r>
              <a:rPr sz="1550" dirty="0">
                <a:latin typeface="Times New Roman"/>
                <a:cs typeface="Times New Roman"/>
              </a:rPr>
              <a:t>seamless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deployment,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ensuring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practical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usability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without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dependency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on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specialized</a:t>
            </a:r>
            <a:r>
              <a:rPr sz="1550" spc="20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wearable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devices.</a:t>
            </a:r>
            <a:endParaRPr sz="15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39432"/>
            <a:ext cx="1636395" cy="617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26458" y="761822"/>
            <a:ext cx="3354704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0292" y="2033778"/>
            <a:ext cx="4474210" cy="2318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EB7B2F"/>
                </a:solidFill>
                <a:latin typeface="Times New Roman"/>
                <a:cs typeface="Times New Roman"/>
              </a:rPr>
              <a:t>HARDWARE</a:t>
            </a:r>
            <a:r>
              <a:rPr sz="2400" b="1" spc="95" dirty="0">
                <a:solidFill>
                  <a:srgbClr val="EB7B2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EB7B2F"/>
                </a:solidFill>
                <a:latin typeface="Times New Roman"/>
                <a:cs typeface="Times New Roman"/>
              </a:rPr>
              <a:t>REQUIREMENTS</a:t>
            </a:r>
            <a:endParaRPr sz="24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664"/>
              </a:spcBef>
              <a:buFont typeface="Arial MT"/>
              <a:buChar char="•"/>
              <a:tabLst>
                <a:tab pos="240665" algn="l"/>
              </a:tabLst>
            </a:pPr>
            <a:r>
              <a:rPr sz="1550" dirty="0">
                <a:latin typeface="Times New Roman"/>
                <a:cs typeface="Times New Roman"/>
              </a:rPr>
              <a:t>Operating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System: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Windows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10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(Min)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Above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"/>
              </a:spcBef>
              <a:buFont typeface="Arial MT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1550" dirty="0">
                <a:latin typeface="Times New Roman"/>
                <a:cs typeface="Times New Roman"/>
              </a:rPr>
              <a:t>Processor:</a:t>
            </a:r>
            <a:r>
              <a:rPr sz="1550" spc="1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i5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9th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Gen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-3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Above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Font typeface="Arial MT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1550" dirty="0">
                <a:latin typeface="Times New Roman"/>
                <a:cs typeface="Times New Roman"/>
              </a:rPr>
              <a:t>RAM:</a:t>
            </a:r>
            <a:r>
              <a:rPr sz="1550" spc="10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8GB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(Min)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– 16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or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32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Preferable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Font typeface="Arial MT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1550" dirty="0">
                <a:latin typeface="Times New Roman"/>
                <a:cs typeface="Times New Roman"/>
              </a:rPr>
              <a:t>Hard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Disk: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Free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space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100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GB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(Min)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SOFTWARE</a:t>
            </a:r>
            <a:r>
              <a:rPr spc="-110" dirty="0"/>
              <a:t> </a:t>
            </a:r>
            <a:r>
              <a:rPr spc="-10" dirty="0"/>
              <a:t>REQUIREMENTS</a:t>
            </a:r>
          </a:p>
          <a:p>
            <a:pPr marL="241300" indent="-228600">
              <a:lnSpc>
                <a:spcPct val="100000"/>
              </a:lnSpc>
              <a:spcBef>
                <a:spcPts val="1595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b="0" dirty="0">
                <a:solidFill>
                  <a:srgbClr val="000000"/>
                </a:solidFill>
                <a:latin typeface="Times New Roman"/>
                <a:cs typeface="Times New Roman"/>
              </a:rPr>
              <a:t>Software:</a:t>
            </a:r>
            <a:r>
              <a:rPr sz="1550" b="0" spc="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50" b="0" dirty="0">
                <a:solidFill>
                  <a:srgbClr val="000000"/>
                </a:solidFill>
                <a:latin typeface="Times New Roman"/>
                <a:cs typeface="Times New Roman"/>
              </a:rPr>
              <a:t>Anaconda</a:t>
            </a:r>
            <a:r>
              <a:rPr sz="1550" b="0" spc="2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5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(2023.03-</a:t>
            </a:r>
            <a:r>
              <a:rPr sz="1550" b="0" spc="-25" dirty="0">
                <a:solidFill>
                  <a:srgbClr val="000000"/>
                </a:solidFill>
                <a:latin typeface="Times New Roman"/>
                <a:cs typeface="Times New Roman"/>
              </a:rPr>
              <a:t>1)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4"/>
              </a:spcBef>
              <a:buFont typeface="Arial MT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1550" b="0" dirty="0">
                <a:solidFill>
                  <a:srgbClr val="000000"/>
                </a:solidFill>
                <a:latin typeface="Times New Roman"/>
                <a:cs typeface="Times New Roman"/>
              </a:rPr>
              <a:t>Primary</a:t>
            </a:r>
            <a:r>
              <a:rPr sz="1550" b="0" spc="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50" b="0" dirty="0">
                <a:solidFill>
                  <a:srgbClr val="000000"/>
                </a:solidFill>
                <a:latin typeface="Times New Roman"/>
                <a:cs typeface="Times New Roman"/>
              </a:rPr>
              <a:t>Language:</a:t>
            </a:r>
            <a:r>
              <a:rPr sz="1550" b="0" spc="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50" b="0" dirty="0">
                <a:solidFill>
                  <a:srgbClr val="000000"/>
                </a:solidFill>
                <a:latin typeface="Times New Roman"/>
                <a:cs typeface="Times New Roman"/>
              </a:rPr>
              <a:t>Python</a:t>
            </a:r>
            <a:r>
              <a:rPr sz="1550" b="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5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(3.10.9)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0"/>
              </a:spcBef>
              <a:buFont typeface="Arial MT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1550" b="0" dirty="0">
                <a:solidFill>
                  <a:srgbClr val="000000"/>
                </a:solidFill>
                <a:latin typeface="Times New Roman"/>
                <a:cs typeface="Times New Roman"/>
              </a:rPr>
              <a:t>Web</a:t>
            </a:r>
            <a:r>
              <a:rPr sz="1550" b="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50" b="0" dirty="0">
                <a:solidFill>
                  <a:srgbClr val="000000"/>
                </a:solidFill>
                <a:latin typeface="Times New Roman"/>
                <a:cs typeface="Times New Roman"/>
              </a:rPr>
              <a:t>Framework:</a:t>
            </a:r>
            <a:r>
              <a:rPr sz="1550" b="0" spc="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50" b="0" spc="-20" dirty="0">
                <a:solidFill>
                  <a:srgbClr val="000000"/>
                </a:solidFill>
                <a:latin typeface="Times New Roman"/>
                <a:cs typeface="Times New Roman"/>
              </a:rPr>
              <a:t>Flask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buFont typeface="Arial MT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1550" b="0" dirty="0">
                <a:solidFill>
                  <a:srgbClr val="000000"/>
                </a:solidFill>
                <a:latin typeface="Times New Roman"/>
                <a:cs typeface="Times New Roman"/>
              </a:rPr>
              <a:t>Development</a:t>
            </a:r>
            <a:r>
              <a:rPr sz="1550" b="0" spc="1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50" b="0" dirty="0">
                <a:solidFill>
                  <a:srgbClr val="000000"/>
                </a:solidFill>
                <a:latin typeface="Times New Roman"/>
                <a:cs typeface="Times New Roman"/>
              </a:rPr>
              <a:t>Environment:</a:t>
            </a:r>
            <a:r>
              <a:rPr sz="1550" b="0" spc="1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50" b="0" dirty="0">
                <a:solidFill>
                  <a:srgbClr val="000000"/>
                </a:solidFill>
                <a:latin typeface="Times New Roman"/>
                <a:cs typeface="Times New Roman"/>
              </a:rPr>
              <a:t>Jupyter</a:t>
            </a:r>
            <a:r>
              <a:rPr sz="1550" b="0" spc="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5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Notebook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4"/>
              </a:spcBef>
              <a:buFont typeface="Arial MT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1550" b="0" dirty="0">
                <a:solidFill>
                  <a:srgbClr val="000000"/>
                </a:solidFill>
                <a:latin typeface="Times New Roman"/>
                <a:cs typeface="Times New Roman"/>
              </a:rPr>
              <a:t>Database:</a:t>
            </a:r>
            <a:r>
              <a:rPr sz="1550" b="0" spc="1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5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Sqlite3</a:t>
            </a:r>
            <a:endParaRPr sz="1550">
              <a:latin typeface="Times New Roman"/>
              <a:cs typeface="Times New Roman"/>
            </a:endParaRPr>
          </a:p>
          <a:p>
            <a:pPr marL="241300" marR="5080" indent="-229235">
              <a:lnSpc>
                <a:spcPct val="16400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Front-</a:t>
            </a:r>
            <a:r>
              <a:rPr sz="1550" b="0" dirty="0">
                <a:solidFill>
                  <a:srgbClr val="000000"/>
                </a:solidFill>
                <a:latin typeface="Times New Roman"/>
                <a:cs typeface="Times New Roman"/>
              </a:rPr>
              <a:t>End</a:t>
            </a:r>
            <a:r>
              <a:rPr sz="1550" b="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50" b="0" dirty="0">
                <a:solidFill>
                  <a:srgbClr val="000000"/>
                </a:solidFill>
                <a:latin typeface="Times New Roman"/>
                <a:cs typeface="Times New Roman"/>
              </a:rPr>
              <a:t>Technologies:</a:t>
            </a:r>
            <a:r>
              <a:rPr sz="1550" b="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50" b="0" dirty="0">
                <a:solidFill>
                  <a:srgbClr val="000000"/>
                </a:solidFill>
                <a:latin typeface="Times New Roman"/>
                <a:cs typeface="Times New Roman"/>
              </a:rPr>
              <a:t>HTML,</a:t>
            </a:r>
            <a:r>
              <a:rPr sz="1550" b="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50" b="0" dirty="0">
                <a:solidFill>
                  <a:srgbClr val="000000"/>
                </a:solidFill>
                <a:latin typeface="Times New Roman"/>
                <a:cs typeface="Times New Roman"/>
              </a:rPr>
              <a:t>CSS,</a:t>
            </a:r>
            <a:r>
              <a:rPr sz="1550" b="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50" b="0" dirty="0">
                <a:solidFill>
                  <a:srgbClr val="000000"/>
                </a:solidFill>
                <a:latin typeface="Times New Roman"/>
                <a:cs typeface="Times New Roman"/>
              </a:rPr>
              <a:t>JavaScript</a:t>
            </a:r>
            <a:r>
              <a:rPr sz="1550" b="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50" b="0" spc="-25" dirty="0">
                <a:solidFill>
                  <a:srgbClr val="000000"/>
                </a:solidFill>
                <a:latin typeface="Times New Roman"/>
                <a:cs typeface="Times New Roman"/>
              </a:rPr>
              <a:t>and </a:t>
            </a:r>
            <a:r>
              <a:rPr sz="155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Bootstrap4</a:t>
            </a:r>
            <a:endParaRPr sz="15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39432"/>
            <a:ext cx="1636395" cy="617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7032" rIns="0" bIns="0" rtlCol="0">
            <a:spAutoFit/>
          </a:bodyPr>
          <a:lstStyle/>
          <a:p>
            <a:pPr marL="2466340">
              <a:lnSpc>
                <a:spcPct val="100000"/>
              </a:lnSpc>
              <a:spcBef>
                <a:spcPts val="95"/>
              </a:spcBef>
            </a:pPr>
            <a:r>
              <a:rPr spc="-65" dirty="0"/>
              <a:t>SYSTEM</a:t>
            </a:r>
            <a:r>
              <a:rPr spc="-10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39432"/>
            <a:ext cx="1636395" cy="61708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2504" y="1823643"/>
            <a:ext cx="7651115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3609" rIns="0" bIns="0" rtlCol="0">
            <a:spAutoFit/>
          </a:bodyPr>
          <a:lstStyle/>
          <a:p>
            <a:pPr marL="2472055">
              <a:lnSpc>
                <a:spcPct val="100000"/>
              </a:lnSpc>
              <a:spcBef>
                <a:spcPts val="95"/>
              </a:spcBef>
            </a:pPr>
            <a:r>
              <a:rPr spc="-120" dirty="0"/>
              <a:t>DATA</a:t>
            </a:r>
            <a:r>
              <a:rPr spc="-135" dirty="0"/>
              <a:t> </a:t>
            </a:r>
            <a:r>
              <a:rPr spc="-114" dirty="0"/>
              <a:t>FLOW</a:t>
            </a:r>
            <a:r>
              <a:rPr spc="-175" dirty="0"/>
              <a:t> </a:t>
            </a:r>
            <a:r>
              <a:rPr spc="-85" dirty="0"/>
              <a:t>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39432"/>
            <a:ext cx="1636395" cy="61708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96815" y="1329664"/>
            <a:ext cx="4003040" cy="520941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5229" y="2634183"/>
            <a:ext cx="617918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UML</a:t>
            </a:r>
            <a:r>
              <a:rPr sz="6000" spc="-190" dirty="0"/>
              <a:t> </a:t>
            </a:r>
            <a:r>
              <a:rPr sz="6000" spc="-25" dirty="0"/>
              <a:t>DIAGRAMS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45008"/>
            <a:ext cx="1649730" cy="61569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793" rIns="0" bIns="0" rtlCol="0">
            <a:spAutoFit/>
          </a:bodyPr>
          <a:lstStyle/>
          <a:p>
            <a:pPr marL="1758314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USE</a:t>
            </a:r>
            <a:r>
              <a:rPr spc="-180" dirty="0"/>
              <a:t> </a:t>
            </a:r>
            <a:r>
              <a:rPr spc="-25" dirty="0"/>
              <a:t>CASE</a:t>
            </a:r>
            <a:r>
              <a:rPr spc="-155" dirty="0"/>
              <a:t> </a:t>
            </a:r>
            <a:r>
              <a:rPr spc="-10" dirty="0"/>
              <a:t>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39432"/>
            <a:ext cx="1636395" cy="61708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99534" y="1823605"/>
            <a:ext cx="4379595" cy="434314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793" rIns="0" bIns="0" rtlCol="0">
            <a:spAutoFit/>
          </a:bodyPr>
          <a:lstStyle/>
          <a:p>
            <a:pPr marL="2124710">
              <a:lnSpc>
                <a:spcPct val="100000"/>
              </a:lnSpc>
              <a:spcBef>
                <a:spcPts val="95"/>
              </a:spcBef>
            </a:pPr>
            <a:r>
              <a:rPr spc="-180" dirty="0"/>
              <a:t>CLASS</a:t>
            </a:r>
            <a:r>
              <a:rPr spc="-5" dirty="0"/>
              <a:t> </a:t>
            </a:r>
            <a:r>
              <a:rPr spc="-10" dirty="0"/>
              <a:t>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39419"/>
            <a:ext cx="2316480" cy="79502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33575" y="1823020"/>
            <a:ext cx="8313039" cy="43459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793" rIns="0" bIns="0" rtlCol="0">
            <a:spAutoFit/>
          </a:bodyPr>
          <a:lstStyle/>
          <a:p>
            <a:pPr marL="1749425">
              <a:lnSpc>
                <a:spcPct val="100000"/>
              </a:lnSpc>
              <a:spcBef>
                <a:spcPts val="95"/>
              </a:spcBef>
            </a:pPr>
            <a:r>
              <a:rPr spc="-85" dirty="0"/>
              <a:t>ACTIVITY</a:t>
            </a:r>
            <a:r>
              <a:rPr spc="-145" dirty="0"/>
              <a:t> </a:t>
            </a:r>
            <a:r>
              <a:rPr spc="-10" dirty="0"/>
              <a:t>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39432"/>
            <a:ext cx="1636395" cy="61708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02025" y="1823694"/>
            <a:ext cx="5173345" cy="434301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1466215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COLLABORATION</a:t>
            </a:r>
            <a:r>
              <a:rPr spc="-125" dirty="0"/>
              <a:t> </a:t>
            </a:r>
            <a:r>
              <a:rPr spc="-10" dirty="0"/>
              <a:t>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39432"/>
            <a:ext cx="1636395" cy="61708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2070" y="1791309"/>
            <a:ext cx="7745095" cy="411454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1991" y="609422"/>
            <a:ext cx="6766559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66845" algn="l"/>
              </a:tabLst>
            </a:pPr>
            <a:r>
              <a:rPr sz="4400" spc="-10" dirty="0"/>
              <a:t>COMPONENT</a:t>
            </a:r>
            <a:r>
              <a:rPr sz="4400" dirty="0"/>
              <a:t>	</a:t>
            </a:r>
            <a:r>
              <a:rPr sz="4400" spc="-10" dirty="0"/>
              <a:t>DIAGRAM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39432"/>
            <a:ext cx="1636395" cy="61708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7794" y="2194432"/>
            <a:ext cx="10050526" cy="327279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2742" y="1261948"/>
            <a:ext cx="756475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FLOW</a:t>
            </a:r>
            <a:r>
              <a:rPr spc="-114" dirty="0"/>
              <a:t> </a:t>
            </a:r>
            <a:r>
              <a:rPr spc="-55" dirty="0"/>
              <a:t>OF</a:t>
            </a:r>
            <a:r>
              <a:rPr spc="-114" dirty="0"/>
              <a:t> </a:t>
            </a:r>
            <a:r>
              <a:rPr spc="-65" dirty="0"/>
              <a:t>WORK/WORKING</a:t>
            </a:r>
            <a:r>
              <a:rPr spc="-145" dirty="0"/>
              <a:t> </a:t>
            </a:r>
            <a:r>
              <a:rPr spc="-10" dirty="0"/>
              <a:t>MODULES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7284" y="2083765"/>
            <a:ext cx="10414000" cy="3840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69850" indent="-228600">
              <a:lnSpc>
                <a:spcPct val="1504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1250" b="1" spc="-10" dirty="0">
                <a:latin typeface="Calibri"/>
                <a:cs typeface="Calibri"/>
              </a:rPr>
              <a:t>Importing</a:t>
            </a:r>
            <a:r>
              <a:rPr sz="1250" b="1" spc="-55" dirty="0">
                <a:latin typeface="Calibri"/>
                <a:cs typeface="Calibri"/>
              </a:rPr>
              <a:t> </a:t>
            </a:r>
            <a:r>
              <a:rPr sz="1250" b="1" dirty="0">
                <a:latin typeface="Calibri"/>
                <a:cs typeface="Calibri"/>
              </a:rPr>
              <a:t>the</a:t>
            </a:r>
            <a:r>
              <a:rPr sz="1250" b="1" spc="-15" dirty="0">
                <a:latin typeface="Calibri"/>
                <a:cs typeface="Calibri"/>
              </a:rPr>
              <a:t> </a:t>
            </a:r>
            <a:r>
              <a:rPr sz="1250" b="1" dirty="0">
                <a:latin typeface="Calibri"/>
                <a:cs typeface="Calibri"/>
              </a:rPr>
              <a:t>Packages:</a:t>
            </a:r>
            <a:r>
              <a:rPr sz="1250" b="1" spc="-7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Essential</a:t>
            </a:r>
            <a:r>
              <a:rPr sz="1250" spc="-5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libraries</a:t>
            </a:r>
            <a:r>
              <a:rPr sz="1250" spc="-1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are</a:t>
            </a:r>
            <a:r>
              <a:rPr sz="1250" spc="-3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imported</a:t>
            </a:r>
            <a:r>
              <a:rPr sz="1250" spc="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to</a:t>
            </a:r>
            <a:r>
              <a:rPr sz="1250" spc="-6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support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data</a:t>
            </a:r>
            <a:r>
              <a:rPr sz="1250" spc="-6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manipulation, visualization, </a:t>
            </a:r>
            <a:r>
              <a:rPr sz="1250" dirty="0">
                <a:latin typeface="Calibri"/>
                <a:cs typeface="Calibri"/>
              </a:rPr>
              <a:t>model</a:t>
            </a:r>
            <a:r>
              <a:rPr sz="1250" spc="-10" dirty="0">
                <a:latin typeface="Calibri"/>
                <a:cs typeface="Calibri"/>
              </a:rPr>
              <a:t> development,</a:t>
            </a:r>
            <a:r>
              <a:rPr sz="1250" spc="-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evaluation,</a:t>
            </a:r>
            <a:r>
              <a:rPr sz="1250" spc="6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explainability,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and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spc="-25" dirty="0">
                <a:latin typeface="Calibri"/>
                <a:cs typeface="Calibri"/>
              </a:rPr>
              <a:t>web </a:t>
            </a:r>
            <a:r>
              <a:rPr sz="1250" spc="-10" dirty="0">
                <a:latin typeface="Calibri"/>
                <a:cs typeface="Calibri"/>
              </a:rPr>
              <a:t>deployment.</a:t>
            </a:r>
            <a:r>
              <a:rPr sz="1250" spc="-4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These</a:t>
            </a:r>
            <a:r>
              <a:rPr sz="1250" spc="-3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include</a:t>
            </a:r>
            <a:r>
              <a:rPr sz="1250" spc="-3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modules</a:t>
            </a:r>
            <a:r>
              <a:rPr sz="1250" spc="-4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for</a:t>
            </a:r>
            <a:r>
              <a:rPr sz="1250" spc="-4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numerical</a:t>
            </a:r>
            <a:r>
              <a:rPr sz="1250" spc="-3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computation,</a:t>
            </a:r>
            <a:r>
              <a:rPr sz="1250" spc="-4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data</a:t>
            </a:r>
            <a:r>
              <a:rPr sz="1250" spc="-3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handling,</a:t>
            </a:r>
            <a:r>
              <a:rPr sz="1250" spc="-3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plotting,</a:t>
            </a:r>
            <a:r>
              <a:rPr sz="1250" spc="-3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preprocessing,</a:t>
            </a:r>
            <a:r>
              <a:rPr sz="1250" spc="-3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machine</a:t>
            </a:r>
            <a:r>
              <a:rPr sz="1250" spc="-3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learning</a:t>
            </a:r>
            <a:r>
              <a:rPr sz="1250" spc="-4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models,</a:t>
            </a:r>
            <a:r>
              <a:rPr sz="1250" spc="-3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ensemble</a:t>
            </a:r>
            <a:r>
              <a:rPr sz="1250" spc="-3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techniques, </a:t>
            </a:r>
            <a:r>
              <a:rPr sz="1250" dirty="0">
                <a:latin typeface="Calibri"/>
                <a:cs typeface="Calibri"/>
              </a:rPr>
              <a:t>model</a:t>
            </a:r>
            <a:r>
              <a:rPr sz="1250" spc="-3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persistence,</a:t>
            </a:r>
            <a:r>
              <a:rPr sz="1250" spc="-3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and</a:t>
            </a:r>
            <a:r>
              <a:rPr sz="1250" spc="-4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interpretability</a:t>
            </a:r>
            <a:r>
              <a:rPr sz="1250" spc="-4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tools,</a:t>
            </a:r>
            <a:r>
              <a:rPr sz="1250" spc="-3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ensuring</a:t>
            </a:r>
            <a:r>
              <a:rPr sz="1250" spc="-5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</a:t>
            </a:r>
            <a:r>
              <a:rPr sz="1250" spc="-3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complete</a:t>
            </a:r>
            <a:r>
              <a:rPr sz="1250" spc="-3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and</a:t>
            </a:r>
            <a:r>
              <a:rPr sz="1250" spc="-4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efficient</a:t>
            </a:r>
            <a:r>
              <a:rPr sz="1250" spc="-5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implementation</a:t>
            </a:r>
            <a:r>
              <a:rPr sz="1250" spc="1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workflow.</a:t>
            </a:r>
            <a:endParaRPr sz="1250">
              <a:latin typeface="Calibri"/>
              <a:cs typeface="Calibri"/>
            </a:endParaRPr>
          </a:p>
          <a:p>
            <a:pPr marL="240665" marR="206375" indent="-228600" algn="just">
              <a:lnSpc>
                <a:spcPct val="150500"/>
              </a:lnSpc>
              <a:spcBef>
                <a:spcPts val="960"/>
              </a:spcBef>
              <a:buFont typeface="Arial MT"/>
              <a:buChar char="•"/>
              <a:tabLst>
                <a:tab pos="240665" algn="l"/>
              </a:tabLst>
            </a:pPr>
            <a:r>
              <a:rPr sz="1250" b="1" spc="-10" dirty="0">
                <a:latin typeface="Calibri"/>
                <a:cs typeface="Calibri"/>
              </a:rPr>
              <a:t>Exploring</a:t>
            </a:r>
            <a:r>
              <a:rPr sz="1250" b="1" spc="-65" dirty="0">
                <a:latin typeface="Calibri"/>
                <a:cs typeface="Calibri"/>
              </a:rPr>
              <a:t> </a:t>
            </a:r>
            <a:r>
              <a:rPr sz="1250" b="1" dirty="0">
                <a:latin typeface="Calibri"/>
                <a:cs typeface="Calibri"/>
              </a:rPr>
              <a:t>the</a:t>
            </a:r>
            <a:r>
              <a:rPr sz="1250" b="1" spc="-10" dirty="0">
                <a:latin typeface="Calibri"/>
                <a:cs typeface="Calibri"/>
              </a:rPr>
              <a:t> </a:t>
            </a:r>
            <a:r>
              <a:rPr sz="1250" b="1" dirty="0">
                <a:latin typeface="Calibri"/>
                <a:cs typeface="Calibri"/>
              </a:rPr>
              <a:t>Dataset:</a:t>
            </a:r>
            <a:r>
              <a:rPr sz="1250" b="1" spc="-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The</a:t>
            </a:r>
            <a:r>
              <a:rPr sz="1250" spc="-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dataset</a:t>
            </a:r>
            <a:r>
              <a:rPr sz="1250" spc="-6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is</a:t>
            </a:r>
            <a:r>
              <a:rPr sz="1250" spc="-1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loaded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and examined</a:t>
            </a:r>
            <a:r>
              <a:rPr sz="1250" spc="-1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to</a:t>
            </a:r>
            <a:r>
              <a:rPr sz="1250" spc="-10" dirty="0">
                <a:latin typeface="Calibri"/>
                <a:cs typeface="Calibri"/>
              </a:rPr>
              <a:t> understand</a:t>
            </a:r>
            <a:r>
              <a:rPr sz="1250" spc="-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its</a:t>
            </a:r>
            <a:r>
              <a:rPr sz="1250" spc="-1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structure,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feature</a:t>
            </a:r>
            <a:r>
              <a:rPr sz="1250" spc="-4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names,</a:t>
            </a:r>
            <a:r>
              <a:rPr sz="1250" spc="-10" dirty="0">
                <a:latin typeface="Calibri"/>
                <a:cs typeface="Calibri"/>
              </a:rPr>
              <a:t> data</a:t>
            </a:r>
            <a:r>
              <a:rPr sz="1250" spc="-6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types,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and</a:t>
            </a:r>
            <a:r>
              <a:rPr sz="1250" spc="-1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target</a:t>
            </a:r>
            <a:r>
              <a:rPr sz="1250" spc="-5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variables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related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to</a:t>
            </a:r>
            <a:r>
              <a:rPr sz="1250" spc="-5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workout </a:t>
            </a:r>
            <a:r>
              <a:rPr sz="1250" dirty="0">
                <a:latin typeface="Calibri"/>
                <a:cs typeface="Calibri"/>
              </a:rPr>
              <a:t>exercises</a:t>
            </a:r>
            <a:r>
              <a:rPr sz="1250" spc="-1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and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nutrition</a:t>
            </a:r>
            <a:r>
              <a:rPr sz="1250" spc="-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diets.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Summary</a:t>
            </a:r>
            <a:r>
              <a:rPr sz="1250" spc="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statistics,</a:t>
            </a:r>
            <a:r>
              <a:rPr sz="1250" spc="-5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unique</a:t>
            </a:r>
            <a:r>
              <a:rPr sz="1250" spc="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value </a:t>
            </a:r>
            <a:r>
              <a:rPr sz="1250" spc="-10" dirty="0">
                <a:latin typeface="Calibri"/>
                <a:cs typeface="Calibri"/>
              </a:rPr>
              <a:t>counts,</a:t>
            </a:r>
            <a:r>
              <a:rPr sz="1250" spc="-5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and</a:t>
            </a:r>
            <a:r>
              <a:rPr sz="1250" spc="-1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sample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records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are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reviewed</a:t>
            </a:r>
            <a:r>
              <a:rPr sz="1250" spc="-4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to</a:t>
            </a:r>
            <a:r>
              <a:rPr sz="1250" spc="-3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identify</a:t>
            </a:r>
            <a:r>
              <a:rPr sz="1250" spc="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inconsistencies,</a:t>
            </a:r>
            <a:r>
              <a:rPr sz="1250" spc="-5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class</a:t>
            </a:r>
            <a:r>
              <a:rPr sz="1250" spc="-7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distributions,</a:t>
            </a:r>
            <a:r>
              <a:rPr sz="1250" dirty="0">
                <a:latin typeface="Calibri"/>
                <a:cs typeface="Calibri"/>
              </a:rPr>
              <a:t> </a:t>
            </a:r>
            <a:r>
              <a:rPr sz="1250" spc="-25" dirty="0">
                <a:latin typeface="Calibri"/>
                <a:cs typeface="Calibri"/>
              </a:rPr>
              <a:t>and </a:t>
            </a:r>
            <a:r>
              <a:rPr sz="1250" dirty="0">
                <a:latin typeface="Calibri"/>
                <a:cs typeface="Calibri"/>
              </a:rPr>
              <a:t>potential</a:t>
            </a:r>
            <a:r>
              <a:rPr sz="1250" spc="-5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data</a:t>
            </a:r>
            <a:r>
              <a:rPr sz="1250" spc="-4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quality</a:t>
            </a:r>
            <a:r>
              <a:rPr sz="1250" spc="-4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issues.</a:t>
            </a:r>
            <a:endParaRPr sz="1250">
              <a:latin typeface="Calibri"/>
              <a:cs typeface="Calibri"/>
            </a:endParaRPr>
          </a:p>
          <a:p>
            <a:pPr marL="240665" marR="5080" indent="-228600">
              <a:lnSpc>
                <a:spcPct val="151200"/>
              </a:lnSpc>
              <a:spcBef>
                <a:spcPts val="950"/>
              </a:spcBef>
              <a:buFont typeface="Arial MT"/>
              <a:buChar char="•"/>
              <a:tabLst>
                <a:tab pos="240665" algn="l"/>
              </a:tabLst>
            </a:pPr>
            <a:r>
              <a:rPr sz="1250" b="1" dirty="0">
                <a:latin typeface="Calibri"/>
                <a:cs typeface="Calibri"/>
              </a:rPr>
              <a:t>Data</a:t>
            </a:r>
            <a:r>
              <a:rPr sz="1250" b="1" spc="-65" dirty="0">
                <a:latin typeface="Calibri"/>
                <a:cs typeface="Calibri"/>
              </a:rPr>
              <a:t> </a:t>
            </a:r>
            <a:r>
              <a:rPr sz="1250" b="1" spc="-10" dirty="0">
                <a:latin typeface="Calibri"/>
                <a:cs typeface="Calibri"/>
              </a:rPr>
              <a:t>Processing:</a:t>
            </a:r>
            <a:r>
              <a:rPr sz="1250" b="1" spc="-9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Data</a:t>
            </a:r>
            <a:r>
              <a:rPr sz="1250" spc="-9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preprocessing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involves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removing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null</a:t>
            </a:r>
            <a:r>
              <a:rPr sz="1250" spc="-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values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and</a:t>
            </a:r>
            <a:r>
              <a:rPr sz="1250" spc="-3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duplicate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records</a:t>
            </a:r>
            <a:r>
              <a:rPr sz="1250" spc="-3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to</a:t>
            </a:r>
            <a:r>
              <a:rPr sz="1250" spc="-6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maintain</a:t>
            </a:r>
            <a:r>
              <a:rPr sz="1250" spc="-5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data</a:t>
            </a:r>
            <a:r>
              <a:rPr sz="1250" spc="-6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integrity.</a:t>
            </a:r>
            <a:r>
              <a:rPr sz="1250" spc="-3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Outliers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are</a:t>
            </a:r>
            <a:r>
              <a:rPr sz="1250" spc="-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detected</a:t>
            </a:r>
            <a:r>
              <a:rPr sz="1250" spc="-5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and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eliminated</a:t>
            </a:r>
            <a:r>
              <a:rPr sz="1250" spc="-5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using </a:t>
            </a:r>
            <a:r>
              <a:rPr sz="1250" dirty="0">
                <a:latin typeface="Calibri"/>
                <a:cs typeface="Calibri"/>
              </a:rPr>
              <a:t>the</a:t>
            </a:r>
            <a:r>
              <a:rPr sz="1250" spc="-5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Interquartile</a:t>
            </a:r>
            <a:r>
              <a:rPr sz="1250" spc="-4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Range</a:t>
            </a:r>
            <a:r>
              <a:rPr sz="1250" spc="-3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method</a:t>
            </a:r>
            <a:r>
              <a:rPr sz="1250" spc="-4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to</a:t>
            </a:r>
            <a:r>
              <a:rPr sz="1250" spc="-4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reduce</a:t>
            </a:r>
            <a:r>
              <a:rPr sz="1250" spc="-3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skewness</a:t>
            </a:r>
            <a:r>
              <a:rPr sz="1250" spc="-4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and</a:t>
            </a:r>
            <a:r>
              <a:rPr sz="1250" spc="-4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improve</a:t>
            </a:r>
            <a:r>
              <a:rPr sz="1250" spc="-3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reliability.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These</a:t>
            </a:r>
            <a:r>
              <a:rPr sz="1250" spc="-3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steps</a:t>
            </a:r>
            <a:r>
              <a:rPr sz="1250" spc="-5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ensure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consistent,</a:t>
            </a:r>
            <a:r>
              <a:rPr sz="1250" spc="-6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clean,</a:t>
            </a:r>
            <a:r>
              <a:rPr sz="1250" spc="-3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and</a:t>
            </a:r>
            <a:r>
              <a:rPr sz="1250" spc="-4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high-</a:t>
            </a:r>
            <a:r>
              <a:rPr sz="1250" dirty="0">
                <a:latin typeface="Calibri"/>
                <a:cs typeface="Calibri"/>
              </a:rPr>
              <a:t>quality</a:t>
            </a:r>
            <a:r>
              <a:rPr sz="1250" spc="-3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input</a:t>
            </a:r>
            <a:r>
              <a:rPr sz="1250" spc="-4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for</a:t>
            </a:r>
            <a:r>
              <a:rPr sz="1250" spc="-4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accurate</a:t>
            </a:r>
            <a:r>
              <a:rPr sz="1250" spc="50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prediction</a:t>
            </a:r>
            <a:r>
              <a:rPr sz="1250" spc="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modeling.</a:t>
            </a:r>
            <a:endParaRPr sz="1250">
              <a:latin typeface="Calibri"/>
              <a:cs typeface="Calibri"/>
            </a:endParaRPr>
          </a:p>
          <a:p>
            <a:pPr marL="240665" marR="109855" indent="-228600">
              <a:lnSpc>
                <a:spcPct val="150500"/>
              </a:lnSpc>
              <a:spcBef>
                <a:spcPts val="1010"/>
              </a:spcBef>
              <a:buFont typeface="Arial MT"/>
              <a:buChar char="•"/>
              <a:tabLst>
                <a:tab pos="240665" algn="l"/>
              </a:tabLst>
            </a:pPr>
            <a:r>
              <a:rPr sz="1250" b="1" dirty="0">
                <a:latin typeface="Calibri"/>
                <a:cs typeface="Calibri"/>
              </a:rPr>
              <a:t>Label</a:t>
            </a:r>
            <a:r>
              <a:rPr sz="1250" b="1" spc="-50" dirty="0">
                <a:latin typeface="Calibri"/>
                <a:cs typeface="Calibri"/>
              </a:rPr>
              <a:t> </a:t>
            </a:r>
            <a:r>
              <a:rPr sz="1250" b="1" spc="-10" dirty="0">
                <a:latin typeface="Calibri"/>
                <a:cs typeface="Calibri"/>
              </a:rPr>
              <a:t>Encoding:</a:t>
            </a:r>
            <a:r>
              <a:rPr sz="1250" b="1" spc="-4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Categorical</a:t>
            </a:r>
            <a:r>
              <a:rPr sz="1250" spc="-9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variables,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including</a:t>
            </a:r>
            <a:r>
              <a:rPr sz="1250" spc="-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workout</a:t>
            </a:r>
            <a:r>
              <a:rPr sz="1250" spc="-3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and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nutrition</a:t>
            </a:r>
            <a:r>
              <a:rPr sz="1250" spc="-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targets,</a:t>
            </a:r>
            <a:r>
              <a:rPr sz="1250" spc="-5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are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transformed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into</a:t>
            </a:r>
            <a:r>
              <a:rPr sz="1250" spc="-3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numerical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format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using</a:t>
            </a:r>
            <a:r>
              <a:rPr sz="1250" spc="-3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label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encoding.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This</a:t>
            </a:r>
            <a:r>
              <a:rPr sz="1250" spc="-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process converts</a:t>
            </a:r>
            <a:r>
              <a:rPr sz="1250" spc="-3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textual</a:t>
            </a:r>
            <a:r>
              <a:rPr sz="1250" spc="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categories</a:t>
            </a:r>
            <a:r>
              <a:rPr sz="1250" spc="-7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into</a:t>
            </a:r>
            <a:r>
              <a:rPr sz="1250" spc="-3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integer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representations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while</a:t>
            </a:r>
            <a:r>
              <a:rPr sz="1250" spc="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preserving </a:t>
            </a:r>
            <a:r>
              <a:rPr sz="1250" dirty="0">
                <a:latin typeface="Calibri"/>
                <a:cs typeface="Calibri"/>
              </a:rPr>
              <a:t>class</a:t>
            </a:r>
            <a:r>
              <a:rPr sz="1250" spc="-7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distinctions,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enabling </a:t>
            </a:r>
            <a:r>
              <a:rPr sz="1250" spc="-10" dirty="0">
                <a:latin typeface="Calibri"/>
                <a:cs typeface="Calibri"/>
              </a:rPr>
              <a:t>compatibility with</a:t>
            </a:r>
            <a:r>
              <a:rPr sz="1250" spc="-5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machine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learning</a:t>
            </a:r>
            <a:r>
              <a:rPr sz="1250" spc="-1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models</a:t>
            </a:r>
            <a:r>
              <a:rPr sz="1250" spc="-1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that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require </a:t>
            </a:r>
            <a:r>
              <a:rPr sz="1250" dirty="0">
                <a:latin typeface="Calibri"/>
                <a:cs typeface="Calibri"/>
              </a:rPr>
              <a:t>numerical</a:t>
            </a:r>
            <a:r>
              <a:rPr sz="1250" spc="-4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input</a:t>
            </a:r>
            <a:r>
              <a:rPr sz="1250" spc="-5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features</a:t>
            </a:r>
            <a:r>
              <a:rPr sz="1250" spc="-5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for</a:t>
            </a:r>
            <a:r>
              <a:rPr sz="1250" spc="-4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training</a:t>
            </a:r>
            <a:r>
              <a:rPr sz="1250" spc="-5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and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prediction.</a:t>
            </a:r>
            <a:endParaRPr sz="12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45008"/>
            <a:ext cx="1649730" cy="61569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1407" y="1240612"/>
            <a:ext cx="755840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FLOW</a:t>
            </a:r>
            <a:r>
              <a:rPr spc="-150" dirty="0"/>
              <a:t> </a:t>
            </a:r>
            <a:r>
              <a:rPr spc="-50" dirty="0"/>
              <a:t>OF</a:t>
            </a:r>
            <a:r>
              <a:rPr spc="-125" dirty="0"/>
              <a:t> </a:t>
            </a:r>
            <a:r>
              <a:rPr spc="-65" dirty="0"/>
              <a:t>WORK/WORKING</a:t>
            </a:r>
            <a:r>
              <a:rPr spc="-180" dirty="0"/>
              <a:t> </a:t>
            </a:r>
            <a:r>
              <a:rPr spc="-10" dirty="0"/>
              <a:t>MODULES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31722" y="2287981"/>
            <a:ext cx="10182860" cy="38404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14604" indent="-228600">
              <a:lnSpc>
                <a:spcPct val="1505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1250" b="1" dirty="0">
                <a:latin typeface="Calibri"/>
                <a:cs typeface="Calibri"/>
              </a:rPr>
              <a:t>Split</a:t>
            </a:r>
            <a:r>
              <a:rPr sz="1250" b="1" spc="-75" dirty="0">
                <a:latin typeface="Calibri"/>
                <a:cs typeface="Calibri"/>
              </a:rPr>
              <a:t> </a:t>
            </a:r>
            <a:r>
              <a:rPr sz="1250" b="1" spc="-10" dirty="0">
                <a:latin typeface="Calibri"/>
                <a:cs typeface="Calibri"/>
              </a:rPr>
              <a:t>the</a:t>
            </a:r>
            <a:r>
              <a:rPr sz="1250" b="1" spc="-60" dirty="0">
                <a:latin typeface="Calibri"/>
                <a:cs typeface="Calibri"/>
              </a:rPr>
              <a:t> </a:t>
            </a:r>
            <a:r>
              <a:rPr sz="1250" b="1" spc="-10" dirty="0">
                <a:latin typeface="Calibri"/>
                <a:cs typeface="Calibri"/>
              </a:rPr>
              <a:t>Data</a:t>
            </a:r>
            <a:r>
              <a:rPr sz="1250" b="1" spc="-65" dirty="0">
                <a:latin typeface="Calibri"/>
                <a:cs typeface="Calibri"/>
              </a:rPr>
              <a:t> </a:t>
            </a:r>
            <a:r>
              <a:rPr sz="1250" b="1" dirty="0">
                <a:latin typeface="Calibri"/>
                <a:cs typeface="Calibri"/>
              </a:rPr>
              <a:t>into</a:t>
            </a:r>
            <a:r>
              <a:rPr sz="1250" b="1" spc="-55" dirty="0">
                <a:latin typeface="Calibri"/>
                <a:cs typeface="Calibri"/>
              </a:rPr>
              <a:t> </a:t>
            </a:r>
            <a:r>
              <a:rPr sz="1250" b="1" dirty="0">
                <a:latin typeface="Calibri"/>
                <a:cs typeface="Calibri"/>
              </a:rPr>
              <a:t>Train</a:t>
            </a:r>
            <a:r>
              <a:rPr sz="1250" b="1" spc="-40" dirty="0">
                <a:latin typeface="Calibri"/>
                <a:cs typeface="Calibri"/>
              </a:rPr>
              <a:t> </a:t>
            </a:r>
            <a:r>
              <a:rPr sz="1250" b="1" dirty="0">
                <a:latin typeface="Calibri"/>
                <a:cs typeface="Calibri"/>
              </a:rPr>
              <a:t>and</a:t>
            </a:r>
            <a:r>
              <a:rPr sz="1250" b="1" spc="-45" dirty="0">
                <a:latin typeface="Calibri"/>
                <a:cs typeface="Calibri"/>
              </a:rPr>
              <a:t> </a:t>
            </a:r>
            <a:r>
              <a:rPr sz="1250" b="1" dirty="0">
                <a:latin typeface="Calibri"/>
                <a:cs typeface="Calibri"/>
              </a:rPr>
              <a:t>Test:</a:t>
            </a:r>
            <a:r>
              <a:rPr sz="1250" b="1" spc="-2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The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dataset</a:t>
            </a:r>
            <a:r>
              <a:rPr sz="1250" spc="-7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is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divided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into</a:t>
            </a:r>
            <a:r>
              <a:rPr sz="1250" spc="-4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training</a:t>
            </a:r>
            <a:r>
              <a:rPr sz="1250" spc="-4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and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testing</a:t>
            </a:r>
            <a:r>
              <a:rPr sz="1250" spc="-6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subsets</a:t>
            </a:r>
            <a:r>
              <a:rPr sz="1250" spc="-4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for</a:t>
            </a:r>
            <a:r>
              <a:rPr sz="1250" spc="-4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both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workout</a:t>
            </a:r>
            <a:r>
              <a:rPr sz="1250" spc="-3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and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nutrition </a:t>
            </a:r>
            <a:r>
              <a:rPr sz="1250" spc="-10" dirty="0">
                <a:latin typeface="Calibri"/>
                <a:cs typeface="Calibri"/>
              </a:rPr>
              <a:t>targets.</a:t>
            </a:r>
            <a:r>
              <a:rPr sz="1250" spc="-8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The</a:t>
            </a:r>
            <a:r>
              <a:rPr sz="1250" spc="1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training</a:t>
            </a:r>
            <a:r>
              <a:rPr sz="1250" spc="-4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set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is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used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spc="-25" dirty="0">
                <a:latin typeface="Calibri"/>
                <a:cs typeface="Calibri"/>
              </a:rPr>
              <a:t>to </a:t>
            </a:r>
            <a:r>
              <a:rPr sz="1250" dirty="0">
                <a:latin typeface="Calibri"/>
                <a:cs typeface="Calibri"/>
              </a:rPr>
              <a:t>learn</a:t>
            </a:r>
            <a:r>
              <a:rPr sz="1250" spc="-4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patterns,</a:t>
            </a:r>
            <a:r>
              <a:rPr sz="1250" spc="-6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while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the</a:t>
            </a:r>
            <a:r>
              <a:rPr sz="1250" spc="1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testing</a:t>
            </a:r>
            <a:r>
              <a:rPr sz="1250" spc="-4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set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evaluates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generalization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performance.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Proper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splitting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ensures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unbiased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validation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and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prevents</a:t>
            </a:r>
            <a:r>
              <a:rPr sz="1250" spc="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information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leakage during prediction</a:t>
            </a:r>
            <a:r>
              <a:rPr sz="125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assessment.</a:t>
            </a:r>
            <a:endParaRPr sz="1250">
              <a:latin typeface="Calibri"/>
              <a:cs typeface="Calibri"/>
            </a:endParaRPr>
          </a:p>
          <a:p>
            <a:pPr marL="241300" marR="284480" indent="-228600">
              <a:lnSpc>
                <a:spcPct val="151300"/>
              </a:lnSpc>
              <a:spcBef>
                <a:spcPts val="950"/>
              </a:spcBef>
              <a:buFont typeface="Arial MT"/>
              <a:buChar char="•"/>
              <a:tabLst>
                <a:tab pos="241300" algn="l"/>
              </a:tabLst>
            </a:pPr>
            <a:r>
              <a:rPr sz="1250" b="1" spc="-10" dirty="0">
                <a:latin typeface="Calibri"/>
                <a:cs typeface="Calibri"/>
              </a:rPr>
              <a:t>Model</a:t>
            </a:r>
            <a:r>
              <a:rPr sz="1250" b="1" spc="-65" dirty="0">
                <a:latin typeface="Calibri"/>
                <a:cs typeface="Calibri"/>
              </a:rPr>
              <a:t> </a:t>
            </a:r>
            <a:r>
              <a:rPr sz="1250" b="1" spc="-10" dirty="0">
                <a:latin typeface="Calibri"/>
                <a:cs typeface="Calibri"/>
              </a:rPr>
              <a:t>Training:</a:t>
            </a:r>
            <a:r>
              <a:rPr sz="1250" b="1" spc="-5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Multiple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models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are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trained,</a:t>
            </a:r>
            <a:r>
              <a:rPr sz="1250" spc="-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including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Random</a:t>
            </a:r>
            <a:r>
              <a:rPr sz="1250" spc="2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Forest,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Decision</a:t>
            </a:r>
            <a:r>
              <a:rPr sz="1250" spc="-6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Tree,</a:t>
            </a:r>
            <a:r>
              <a:rPr sz="1250" spc="-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K-Nearest</a:t>
            </a:r>
            <a:r>
              <a:rPr sz="1250" spc="-7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Neighbors,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XGBoost,</a:t>
            </a:r>
            <a:r>
              <a:rPr sz="1250" spc="-6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CatBoost,</a:t>
            </a:r>
            <a:r>
              <a:rPr sz="1250" spc="-8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and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 </a:t>
            </a:r>
            <a:r>
              <a:rPr sz="1250" spc="-10" dirty="0">
                <a:latin typeface="Calibri"/>
                <a:cs typeface="Calibri"/>
              </a:rPr>
              <a:t>Voting</a:t>
            </a:r>
            <a:r>
              <a:rPr sz="1250" spc="-5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Classifier combining</a:t>
            </a:r>
            <a:r>
              <a:rPr sz="1250" spc="-5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Random</a:t>
            </a:r>
            <a:r>
              <a:rPr sz="1250" spc="-3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Forest,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Gradient</a:t>
            </a:r>
            <a:r>
              <a:rPr sz="1250" spc="-5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Boosting,</a:t>
            </a:r>
            <a:r>
              <a:rPr sz="1250" spc="-4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and</a:t>
            </a:r>
            <a:r>
              <a:rPr sz="1250" spc="-4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XGBoost.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Each</a:t>
            </a:r>
            <a:r>
              <a:rPr sz="1250" spc="-4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model</a:t>
            </a:r>
            <a:r>
              <a:rPr sz="1250" spc="-4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learns</a:t>
            </a:r>
            <a:r>
              <a:rPr sz="1250" spc="-5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from</a:t>
            </a:r>
            <a:r>
              <a:rPr sz="1250" spc="-3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processed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data</a:t>
            </a:r>
            <a:r>
              <a:rPr sz="1250" spc="-6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to</a:t>
            </a:r>
            <a:r>
              <a:rPr sz="1250" spc="-5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predict</a:t>
            </a:r>
            <a:r>
              <a:rPr sz="1250" spc="-5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suitable</a:t>
            </a:r>
            <a:r>
              <a:rPr sz="1250" spc="-6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workout</a:t>
            </a:r>
            <a:r>
              <a:rPr sz="1250" spc="-4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and</a:t>
            </a:r>
            <a:r>
              <a:rPr sz="1250" spc="-5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nutrition</a:t>
            </a:r>
            <a:r>
              <a:rPr sz="1250" spc="-5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plans effectively.</a:t>
            </a:r>
            <a:endParaRPr sz="1250">
              <a:latin typeface="Calibri"/>
              <a:cs typeface="Calibri"/>
            </a:endParaRPr>
          </a:p>
          <a:p>
            <a:pPr marL="241300" marR="88900" indent="-228600">
              <a:lnSpc>
                <a:spcPct val="1505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sz="1250" b="1" dirty="0">
                <a:latin typeface="Calibri"/>
                <a:cs typeface="Calibri"/>
              </a:rPr>
              <a:t>Evaluation:</a:t>
            </a:r>
            <a:r>
              <a:rPr sz="1250" b="1" spc="-3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Model</a:t>
            </a:r>
            <a:r>
              <a:rPr sz="1250" spc="-10" dirty="0">
                <a:latin typeface="Calibri"/>
                <a:cs typeface="Calibri"/>
              </a:rPr>
              <a:t> performance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is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assessed</a:t>
            </a:r>
            <a:r>
              <a:rPr sz="1250" spc="-5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using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accuracy,</a:t>
            </a:r>
            <a:r>
              <a:rPr sz="1250" spc="-3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precision, </a:t>
            </a:r>
            <a:r>
              <a:rPr sz="1250" dirty="0">
                <a:latin typeface="Calibri"/>
                <a:cs typeface="Calibri"/>
              </a:rPr>
              <a:t>recall,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and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F1-</a:t>
            </a:r>
            <a:r>
              <a:rPr sz="1250" dirty="0">
                <a:latin typeface="Calibri"/>
                <a:cs typeface="Calibri"/>
              </a:rPr>
              <a:t>score</a:t>
            </a:r>
            <a:r>
              <a:rPr sz="1250" spc="-3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to</a:t>
            </a:r>
            <a:r>
              <a:rPr sz="1250" spc="-4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measure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classification</a:t>
            </a:r>
            <a:r>
              <a:rPr sz="1250" spc="-5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effectiveness</a:t>
            </a:r>
            <a:r>
              <a:rPr sz="1250" spc="-4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for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both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targets. Comparative</a:t>
            </a:r>
            <a:r>
              <a:rPr sz="1250" spc="-6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analysis</a:t>
            </a:r>
            <a:r>
              <a:rPr sz="1250" spc="-7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and</a:t>
            </a:r>
            <a:r>
              <a:rPr sz="1250" spc="-5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graphical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representations</a:t>
            </a:r>
            <a:r>
              <a:rPr sz="1250" spc="-4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are</a:t>
            </a:r>
            <a:r>
              <a:rPr sz="1250" spc="-4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generated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to</a:t>
            </a:r>
            <a:r>
              <a:rPr sz="1250" spc="-5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identify</a:t>
            </a:r>
            <a:r>
              <a:rPr sz="1250" spc="-1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the</a:t>
            </a:r>
            <a:r>
              <a:rPr sz="1250" spc="-3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most</a:t>
            </a:r>
            <a:r>
              <a:rPr sz="1250" spc="-5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reliable</a:t>
            </a:r>
            <a:r>
              <a:rPr sz="1250" spc="-3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model,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ensuring</a:t>
            </a:r>
            <a:r>
              <a:rPr sz="1250" spc="-3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robust</a:t>
            </a:r>
            <a:r>
              <a:rPr sz="1250" spc="-3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prediction</a:t>
            </a:r>
            <a:r>
              <a:rPr sz="1250" spc="-3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capability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and</a:t>
            </a:r>
            <a:r>
              <a:rPr sz="1250" spc="-5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balanced performance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across</a:t>
            </a:r>
            <a:r>
              <a:rPr sz="1250" spc="-3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classes.</a:t>
            </a:r>
            <a:endParaRPr sz="1250">
              <a:latin typeface="Calibri"/>
              <a:cs typeface="Calibri"/>
            </a:endParaRPr>
          </a:p>
          <a:p>
            <a:pPr marL="241300" marR="5080" indent="-228600">
              <a:lnSpc>
                <a:spcPct val="14970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1250" b="1" dirty="0">
                <a:latin typeface="Calibri"/>
                <a:cs typeface="Calibri"/>
              </a:rPr>
              <a:t>LIME</a:t>
            </a:r>
            <a:r>
              <a:rPr sz="1250" b="1" spc="-10" dirty="0">
                <a:latin typeface="Calibri"/>
                <a:cs typeface="Calibri"/>
              </a:rPr>
              <a:t> </a:t>
            </a:r>
            <a:r>
              <a:rPr sz="1250" b="1" dirty="0">
                <a:latin typeface="Calibri"/>
                <a:cs typeface="Calibri"/>
              </a:rPr>
              <a:t>and SHAP:</a:t>
            </a:r>
            <a:r>
              <a:rPr sz="1250" b="1" spc="-3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Explainable</a:t>
            </a:r>
            <a:r>
              <a:rPr sz="1250" spc="-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AI</a:t>
            </a:r>
            <a:r>
              <a:rPr sz="1250" spc="-10" dirty="0">
                <a:latin typeface="Calibri"/>
                <a:cs typeface="Calibri"/>
              </a:rPr>
              <a:t> techniques </a:t>
            </a:r>
            <a:r>
              <a:rPr sz="1250" dirty="0">
                <a:latin typeface="Calibri"/>
                <a:cs typeface="Calibri"/>
              </a:rPr>
              <a:t>are </a:t>
            </a:r>
            <a:r>
              <a:rPr sz="1250" spc="-10" dirty="0">
                <a:latin typeface="Calibri"/>
                <a:cs typeface="Calibri"/>
              </a:rPr>
              <a:t>implemented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to</a:t>
            </a:r>
            <a:r>
              <a:rPr sz="1250" spc="-1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interpret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model </a:t>
            </a:r>
            <a:r>
              <a:rPr sz="1250" spc="-10" dirty="0">
                <a:latin typeface="Calibri"/>
                <a:cs typeface="Calibri"/>
              </a:rPr>
              <a:t>predictions.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LIME</a:t>
            </a:r>
            <a:r>
              <a:rPr sz="1250" spc="1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provides </a:t>
            </a:r>
            <a:r>
              <a:rPr sz="1250" dirty="0">
                <a:latin typeface="Calibri"/>
                <a:cs typeface="Calibri"/>
              </a:rPr>
              <a:t>local </a:t>
            </a:r>
            <a:r>
              <a:rPr sz="1250" spc="-10" dirty="0">
                <a:latin typeface="Calibri"/>
                <a:cs typeface="Calibri"/>
              </a:rPr>
              <a:t>explanations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by</a:t>
            </a:r>
            <a:r>
              <a:rPr sz="1250" spc="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highlighting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influential features</a:t>
            </a:r>
            <a:r>
              <a:rPr sz="1250" spc="-5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for</a:t>
            </a:r>
            <a:r>
              <a:rPr sz="1250" spc="-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individual</a:t>
            </a:r>
            <a:r>
              <a:rPr sz="1250" spc="1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predictions.</a:t>
            </a:r>
            <a:r>
              <a:rPr sz="1250" spc="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SHAP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delivers</a:t>
            </a:r>
            <a:r>
              <a:rPr sz="1250" spc="-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global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feature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importance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and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contribution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analysis,</a:t>
            </a:r>
            <a:r>
              <a:rPr sz="1250" spc="-6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enhancing transparency,</a:t>
            </a:r>
            <a:r>
              <a:rPr sz="1250" spc="-5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trust,</a:t>
            </a:r>
            <a:r>
              <a:rPr sz="1250" spc="-6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and</a:t>
            </a:r>
            <a:r>
              <a:rPr sz="1250" spc="-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understanding</a:t>
            </a:r>
            <a:r>
              <a:rPr sz="1250" spc="10" dirty="0">
                <a:latin typeface="Calibri"/>
                <a:cs typeface="Calibri"/>
              </a:rPr>
              <a:t> </a:t>
            </a:r>
            <a:r>
              <a:rPr sz="1250" spc="-25" dirty="0">
                <a:latin typeface="Calibri"/>
                <a:cs typeface="Calibri"/>
              </a:rPr>
              <a:t>of </a:t>
            </a:r>
            <a:r>
              <a:rPr sz="1250" spc="-10" dirty="0">
                <a:latin typeface="Calibri"/>
                <a:cs typeface="Calibri"/>
              </a:rPr>
              <a:t>personalized</a:t>
            </a:r>
            <a:r>
              <a:rPr sz="1250" spc="-4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workout</a:t>
            </a:r>
            <a:r>
              <a:rPr sz="1250" spc="-3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and</a:t>
            </a:r>
            <a:r>
              <a:rPr sz="1250" spc="-3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nutrition</a:t>
            </a:r>
            <a:r>
              <a:rPr sz="1250" spc="-3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recommendations.</a:t>
            </a:r>
            <a:endParaRPr sz="12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45008"/>
            <a:ext cx="1649730" cy="61569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3753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FLOW</a:t>
            </a:r>
            <a:r>
              <a:rPr spc="-150" dirty="0"/>
              <a:t> </a:t>
            </a:r>
            <a:r>
              <a:rPr spc="-50" dirty="0"/>
              <a:t>OF</a:t>
            </a:r>
            <a:r>
              <a:rPr spc="-125" dirty="0"/>
              <a:t> </a:t>
            </a:r>
            <a:r>
              <a:rPr spc="-65" dirty="0"/>
              <a:t>WORK/WORKING</a:t>
            </a:r>
            <a:r>
              <a:rPr spc="-180" dirty="0"/>
              <a:t> </a:t>
            </a:r>
            <a:r>
              <a:rPr spc="-10" dirty="0"/>
              <a:t>MODULES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58470" rIns="0" bIns="0" rtlCol="0">
            <a:spAutoFit/>
          </a:bodyPr>
          <a:lstStyle/>
          <a:p>
            <a:pPr marL="212725" marR="5080" indent="-228600">
              <a:lnSpc>
                <a:spcPct val="150500"/>
              </a:lnSpc>
              <a:spcBef>
                <a:spcPts val="95"/>
              </a:spcBef>
              <a:buFont typeface="Arial MT"/>
              <a:buChar char="•"/>
              <a:tabLst>
                <a:tab pos="213360" algn="l"/>
              </a:tabLst>
            </a:pPr>
            <a:r>
              <a:rPr b="1" dirty="0">
                <a:latin typeface="Calibri"/>
                <a:cs typeface="Calibri"/>
              </a:rPr>
              <a:t>Flask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Framework: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web</a:t>
            </a:r>
            <a:r>
              <a:rPr spc="-25" dirty="0"/>
              <a:t> </a:t>
            </a:r>
            <a:r>
              <a:rPr spc="-10" dirty="0"/>
              <a:t>application</a:t>
            </a:r>
            <a:r>
              <a:rPr spc="-40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spc="-10" dirty="0"/>
              <a:t>developed</a:t>
            </a:r>
            <a:r>
              <a:rPr spc="-30" dirty="0"/>
              <a:t> </a:t>
            </a:r>
            <a:r>
              <a:rPr dirty="0"/>
              <a:t>using</a:t>
            </a:r>
            <a:r>
              <a:rPr spc="-30" dirty="0"/>
              <a:t> </a:t>
            </a:r>
            <a:r>
              <a:rPr dirty="0"/>
              <a:t>Flask</a:t>
            </a:r>
            <a:r>
              <a:rPr spc="5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enable</a:t>
            </a:r>
            <a:r>
              <a:rPr spc="-15" dirty="0"/>
              <a:t> </a:t>
            </a:r>
            <a:r>
              <a:rPr spc="-10" dirty="0"/>
              <a:t>real-</a:t>
            </a:r>
            <a:r>
              <a:rPr dirty="0"/>
              <a:t>time</a:t>
            </a:r>
            <a:r>
              <a:rPr spc="-40" dirty="0"/>
              <a:t> </a:t>
            </a:r>
            <a:r>
              <a:rPr spc="-10" dirty="0"/>
              <a:t>prediction</a:t>
            </a:r>
            <a:r>
              <a:rPr spc="-25" dirty="0"/>
              <a:t> </a:t>
            </a:r>
            <a:r>
              <a:rPr dirty="0"/>
              <a:t>services.</a:t>
            </a:r>
            <a:r>
              <a:rPr spc="-1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framework</a:t>
            </a:r>
            <a:r>
              <a:rPr spc="-20" dirty="0"/>
              <a:t> </a:t>
            </a:r>
            <a:r>
              <a:rPr spc="-10" dirty="0"/>
              <a:t>handles</a:t>
            </a:r>
            <a:r>
              <a:rPr spc="-25" dirty="0"/>
              <a:t> </a:t>
            </a:r>
            <a:r>
              <a:rPr dirty="0"/>
              <a:t>routing, user</a:t>
            </a:r>
            <a:r>
              <a:rPr spc="-25" dirty="0"/>
              <a:t> </a:t>
            </a:r>
            <a:r>
              <a:rPr spc="-10" dirty="0"/>
              <a:t>interaction, backend</a:t>
            </a:r>
            <a:r>
              <a:rPr spc="-55" dirty="0"/>
              <a:t> </a:t>
            </a:r>
            <a:r>
              <a:rPr spc="-10" dirty="0"/>
              <a:t>communication,</a:t>
            </a:r>
            <a:r>
              <a:rPr spc="-3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model</a:t>
            </a:r>
            <a:r>
              <a:rPr spc="-10" dirty="0"/>
              <a:t> </a:t>
            </a:r>
            <a:r>
              <a:rPr dirty="0"/>
              <a:t>integration.</a:t>
            </a:r>
            <a:r>
              <a:rPr spc="-20" dirty="0"/>
              <a:t> </a:t>
            </a:r>
            <a:r>
              <a:rPr dirty="0"/>
              <a:t>It</a:t>
            </a:r>
            <a:r>
              <a:rPr spc="-30" dirty="0"/>
              <a:t> </a:t>
            </a:r>
            <a:r>
              <a:rPr dirty="0"/>
              <a:t>ensures </a:t>
            </a:r>
            <a:r>
              <a:rPr spc="-10" dirty="0"/>
              <a:t>seamless</a:t>
            </a:r>
            <a:r>
              <a:rPr spc="-35" dirty="0"/>
              <a:t> </a:t>
            </a:r>
            <a:r>
              <a:rPr spc="-10" dirty="0"/>
              <a:t>data</a:t>
            </a:r>
            <a:r>
              <a:rPr spc="-65" dirty="0"/>
              <a:t> </a:t>
            </a:r>
            <a:r>
              <a:rPr spc="-10" dirty="0"/>
              <a:t>transmission </a:t>
            </a:r>
            <a:r>
              <a:rPr dirty="0"/>
              <a:t>between</a:t>
            </a:r>
            <a:r>
              <a:rPr spc="-20" dirty="0"/>
              <a:t> </a:t>
            </a:r>
            <a:r>
              <a:rPr spc="-10" dirty="0"/>
              <a:t>interface</a:t>
            </a:r>
            <a:r>
              <a:rPr spc="-5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prediction</a:t>
            </a:r>
            <a:r>
              <a:rPr spc="-20" dirty="0"/>
              <a:t> </a:t>
            </a:r>
            <a:r>
              <a:rPr dirty="0"/>
              <a:t>module</a:t>
            </a:r>
            <a:r>
              <a:rPr spc="-10" dirty="0"/>
              <a:t> </a:t>
            </a:r>
            <a:r>
              <a:rPr dirty="0"/>
              <a:t>while</a:t>
            </a:r>
            <a:r>
              <a:rPr spc="-15" dirty="0"/>
              <a:t> </a:t>
            </a:r>
            <a:r>
              <a:rPr spc="-10" dirty="0"/>
              <a:t>supporting</a:t>
            </a:r>
            <a:r>
              <a:rPr spc="-25" dirty="0"/>
              <a:t> </a:t>
            </a:r>
            <a:r>
              <a:rPr spc="-10" dirty="0"/>
              <a:t>scalable </a:t>
            </a:r>
            <a:r>
              <a:rPr dirty="0"/>
              <a:t>and</a:t>
            </a:r>
            <a:r>
              <a:rPr spc="-15" dirty="0"/>
              <a:t> </a:t>
            </a:r>
            <a:r>
              <a:rPr spc="-10" dirty="0"/>
              <a:t>efficient</a:t>
            </a:r>
            <a:r>
              <a:rPr spc="-15" dirty="0"/>
              <a:t> </a:t>
            </a:r>
            <a:r>
              <a:rPr spc="-10" dirty="0"/>
              <a:t>deployment.</a:t>
            </a:r>
          </a:p>
          <a:p>
            <a:pPr marL="212725" marR="280670" indent="-228600">
              <a:lnSpc>
                <a:spcPct val="151300"/>
              </a:lnSpc>
              <a:spcBef>
                <a:spcPts val="950"/>
              </a:spcBef>
              <a:buFont typeface="Arial MT"/>
              <a:buChar char="•"/>
              <a:tabLst>
                <a:tab pos="213360" algn="l"/>
              </a:tabLst>
            </a:pPr>
            <a:r>
              <a:rPr b="1" dirty="0">
                <a:latin typeface="Calibri"/>
                <a:cs typeface="Calibri"/>
              </a:rPr>
              <a:t>User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Signup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and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Signin: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dirty="0"/>
              <a:t>User</a:t>
            </a:r>
            <a:r>
              <a:rPr spc="-10" dirty="0"/>
              <a:t> registration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authentication</a:t>
            </a:r>
            <a:r>
              <a:rPr spc="-5" dirty="0"/>
              <a:t> </a:t>
            </a:r>
            <a:r>
              <a:rPr spc="-10" dirty="0"/>
              <a:t>functionalities</a:t>
            </a:r>
            <a:r>
              <a:rPr spc="-20" dirty="0"/>
              <a:t> </a:t>
            </a:r>
            <a:r>
              <a:rPr dirty="0"/>
              <a:t>are</a:t>
            </a:r>
            <a:r>
              <a:rPr spc="-10" dirty="0"/>
              <a:t> implemented</a:t>
            </a:r>
            <a:r>
              <a:rPr spc="-20" dirty="0"/>
              <a:t> </a:t>
            </a:r>
            <a:r>
              <a:rPr dirty="0"/>
              <a:t>using</a:t>
            </a:r>
            <a:r>
              <a:rPr spc="-20" dirty="0"/>
              <a:t> </a:t>
            </a:r>
            <a:r>
              <a:rPr dirty="0"/>
              <a:t>secure</a:t>
            </a:r>
            <a:r>
              <a:rPr spc="-15" dirty="0"/>
              <a:t> </a:t>
            </a:r>
            <a:r>
              <a:rPr dirty="0"/>
              <a:t>credential</a:t>
            </a:r>
            <a:r>
              <a:rPr spc="-10" dirty="0"/>
              <a:t> </a:t>
            </a:r>
            <a:r>
              <a:rPr dirty="0"/>
              <a:t>storage</a:t>
            </a:r>
            <a:r>
              <a:rPr spc="30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SQLite </a:t>
            </a:r>
            <a:r>
              <a:rPr spc="-10" dirty="0"/>
              <a:t>database. Password</a:t>
            </a:r>
            <a:r>
              <a:rPr spc="-50" dirty="0"/>
              <a:t> </a:t>
            </a:r>
            <a:r>
              <a:rPr spc="-10" dirty="0"/>
              <a:t>hashing</a:t>
            </a:r>
            <a:r>
              <a:rPr spc="-25" dirty="0"/>
              <a:t> </a:t>
            </a:r>
            <a:r>
              <a:rPr dirty="0"/>
              <a:t>and </a:t>
            </a:r>
            <a:r>
              <a:rPr spc="-10" dirty="0"/>
              <a:t>validation</a:t>
            </a:r>
            <a:r>
              <a:rPr spc="-15" dirty="0"/>
              <a:t> </a:t>
            </a:r>
            <a:r>
              <a:rPr spc="-10" dirty="0"/>
              <a:t>mechanisms</a:t>
            </a:r>
            <a:r>
              <a:rPr spc="-15" dirty="0"/>
              <a:t> </a:t>
            </a:r>
            <a:r>
              <a:rPr spc="-10" dirty="0"/>
              <a:t>ensure</a:t>
            </a:r>
            <a:r>
              <a:rPr spc="-15" dirty="0"/>
              <a:t> </a:t>
            </a:r>
            <a:r>
              <a:rPr dirty="0"/>
              <a:t>data</a:t>
            </a:r>
            <a:r>
              <a:rPr spc="-10" dirty="0"/>
              <a:t> security.</a:t>
            </a:r>
            <a:r>
              <a:rPr spc="-65" dirty="0"/>
              <a:t> </a:t>
            </a:r>
            <a:r>
              <a:rPr spc="-10" dirty="0"/>
              <a:t>Successful</a:t>
            </a:r>
            <a:r>
              <a:rPr spc="-40" dirty="0"/>
              <a:t> </a:t>
            </a:r>
            <a:r>
              <a:rPr spc="-10" dirty="0"/>
              <a:t>authentication</a:t>
            </a:r>
            <a:r>
              <a:rPr spc="-15" dirty="0"/>
              <a:t> </a:t>
            </a:r>
            <a:r>
              <a:rPr dirty="0"/>
              <a:t>grants</a:t>
            </a:r>
            <a:r>
              <a:rPr spc="-20" dirty="0"/>
              <a:t> </a:t>
            </a:r>
            <a:r>
              <a:rPr dirty="0"/>
              <a:t>access</a:t>
            </a:r>
            <a:r>
              <a:rPr spc="-25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spc="-10" dirty="0"/>
              <a:t>personalized</a:t>
            </a:r>
            <a:r>
              <a:rPr spc="-5" dirty="0"/>
              <a:t> </a:t>
            </a:r>
            <a:r>
              <a:rPr spc="-10" dirty="0"/>
              <a:t>prediction</a:t>
            </a:r>
            <a:r>
              <a:rPr dirty="0"/>
              <a:t> features</a:t>
            </a:r>
            <a:r>
              <a:rPr spc="-5" dirty="0"/>
              <a:t> </a:t>
            </a:r>
            <a:r>
              <a:rPr spc="-10" dirty="0"/>
              <a:t>within</a:t>
            </a:r>
            <a:r>
              <a:rPr spc="-20" dirty="0"/>
              <a:t> </a:t>
            </a:r>
            <a:r>
              <a:rPr spc="-50" dirty="0"/>
              <a:t>a </a:t>
            </a:r>
            <a:r>
              <a:rPr spc="-10" dirty="0"/>
              <a:t>protected</a:t>
            </a:r>
            <a:r>
              <a:rPr spc="-3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user-</a:t>
            </a:r>
            <a:r>
              <a:rPr dirty="0"/>
              <a:t>specific</a:t>
            </a:r>
            <a:r>
              <a:rPr spc="-20" dirty="0"/>
              <a:t> </a:t>
            </a:r>
            <a:r>
              <a:rPr dirty="0"/>
              <a:t>session</a:t>
            </a:r>
            <a:r>
              <a:rPr spc="-25" dirty="0"/>
              <a:t> </a:t>
            </a:r>
            <a:r>
              <a:rPr spc="-10" dirty="0"/>
              <a:t>environment.</a:t>
            </a:r>
          </a:p>
          <a:p>
            <a:pPr marL="212725" marR="88265" indent="-228600">
              <a:lnSpc>
                <a:spcPct val="150400"/>
              </a:lnSpc>
              <a:spcBef>
                <a:spcPts val="960"/>
              </a:spcBef>
              <a:buFont typeface="Arial MT"/>
              <a:buChar char="•"/>
              <a:tabLst>
                <a:tab pos="213360" algn="l"/>
              </a:tabLst>
            </a:pPr>
            <a:r>
              <a:rPr b="1" spc="-10" dirty="0">
                <a:latin typeface="Calibri"/>
                <a:cs typeface="Calibri"/>
              </a:rPr>
              <a:t>User</a:t>
            </a:r>
            <a:r>
              <a:rPr b="1" spc="-8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Input: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spc="-10" dirty="0"/>
              <a:t>web</a:t>
            </a:r>
            <a:r>
              <a:rPr spc="-50" dirty="0"/>
              <a:t> </a:t>
            </a:r>
            <a:r>
              <a:rPr spc="-10" dirty="0"/>
              <a:t>interface</a:t>
            </a:r>
            <a:r>
              <a:rPr spc="-60" dirty="0"/>
              <a:t> </a:t>
            </a:r>
            <a:r>
              <a:rPr spc="-10" dirty="0"/>
              <a:t>collects</a:t>
            </a:r>
            <a:r>
              <a:rPr spc="-25" dirty="0"/>
              <a:t> </a:t>
            </a:r>
            <a:r>
              <a:rPr spc="-10" dirty="0"/>
              <a:t>structured</a:t>
            </a:r>
            <a:r>
              <a:rPr spc="-70" dirty="0"/>
              <a:t> </a:t>
            </a:r>
            <a:r>
              <a:rPr spc="-10" dirty="0"/>
              <a:t>fitness-related</a:t>
            </a:r>
            <a:r>
              <a:rPr spc="-70" dirty="0"/>
              <a:t> </a:t>
            </a:r>
            <a:r>
              <a:rPr dirty="0"/>
              <a:t>inputs </a:t>
            </a:r>
            <a:r>
              <a:rPr spc="-10" dirty="0"/>
              <a:t>such</a:t>
            </a:r>
            <a:r>
              <a:rPr spc="-50" dirty="0"/>
              <a:t> </a:t>
            </a:r>
            <a:r>
              <a:rPr dirty="0"/>
              <a:t>as</a:t>
            </a:r>
            <a:r>
              <a:rPr spc="-55" dirty="0"/>
              <a:t> </a:t>
            </a:r>
            <a:r>
              <a:rPr dirty="0"/>
              <a:t>age,</a:t>
            </a:r>
            <a:r>
              <a:rPr spc="10" dirty="0"/>
              <a:t> </a:t>
            </a:r>
            <a:r>
              <a:rPr spc="-10" dirty="0"/>
              <a:t>weight,</a:t>
            </a:r>
            <a:r>
              <a:rPr spc="-40" dirty="0"/>
              <a:t> </a:t>
            </a:r>
            <a:r>
              <a:rPr spc="-10" dirty="0"/>
              <a:t>activity</a:t>
            </a:r>
            <a:r>
              <a:rPr spc="-75" dirty="0"/>
              <a:t> </a:t>
            </a:r>
            <a:r>
              <a:rPr dirty="0"/>
              <a:t>level,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goals.</a:t>
            </a:r>
            <a:r>
              <a:rPr spc="-25" dirty="0"/>
              <a:t> </a:t>
            </a:r>
            <a:r>
              <a:rPr dirty="0"/>
              <a:t>Input</a:t>
            </a:r>
            <a:r>
              <a:rPr spc="-25" dirty="0"/>
              <a:t> </a:t>
            </a:r>
            <a:r>
              <a:rPr spc="-10" dirty="0"/>
              <a:t>validation</a:t>
            </a:r>
            <a:r>
              <a:rPr spc="-50" dirty="0"/>
              <a:t> </a:t>
            </a:r>
            <a:r>
              <a:rPr dirty="0"/>
              <a:t>ensures </a:t>
            </a:r>
            <a:r>
              <a:rPr spc="-10" dirty="0"/>
              <a:t>completeness </a:t>
            </a:r>
            <a:r>
              <a:rPr spc="-20" dirty="0"/>
              <a:t>and</a:t>
            </a:r>
            <a:r>
              <a:rPr spc="-65" dirty="0"/>
              <a:t> </a:t>
            </a:r>
            <a:r>
              <a:rPr spc="-10" dirty="0"/>
              <a:t>correctness</a:t>
            </a:r>
            <a:r>
              <a:rPr spc="-30" dirty="0"/>
              <a:t> </a:t>
            </a:r>
            <a:r>
              <a:rPr spc="-20" dirty="0"/>
              <a:t>before</a:t>
            </a:r>
            <a:r>
              <a:rPr spc="-55" dirty="0"/>
              <a:t> </a:t>
            </a:r>
            <a:r>
              <a:rPr spc="-10" dirty="0"/>
              <a:t>transmission</a:t>
            </a:r>
            <a:r>
              <a:rPr spc="-30" dirty="0"/>
              <a:t> </a:t>
            </a:r>
            <a:r>
              <a:rPr spc="-10" dirty="0"/>
              <a:t>to</a:t>
            </a:r>
            <a:r>
              <a:rPr spc="-65" dirty="0"/>
              <a:t> </a:t>
            </a:r>
            <a:r>
              <a:rPr spc="-10" dirty="0"/>
              <a:t>the</a:t>
            </a:r>
            <a:r>
              <a:rPr spc="-55" dirty="0"/>
              <a:t> </a:t>
            </a:r>
            <a:r>
              <a:rPr spc="-10" dirty="0"/>
              <a:t>backend.</a:t>
            </a:r>
            <a:r>
              <a:rPr spc="-50" dirty="0"/>
              <a:t> </a:t>
            </a:r>
            <a:r>
              <a:rPr spc="-10" dirty="0"/>
              <a:t>The</a:t>
            </a:r>
            <a:r>
              <a:rPr spc="-30" dirty="0"/>
              <a:t> </a:t>
            </a:r>
            <a:r>
              <a:rPr spc="-10" dirty="0"/>
              <a:t>processed</a:t>
            </a:r>
            <a:r>
              <a:rPr spc="-30" dirty="0"/>
              <a:t> </a:t>
            </a:r>
            <a:r>
              <a:rPr spc="-10" dirty="0"/>
              <a:t>data</a:t>
            </a:r>
            <a:r>
              <a:rPr spc="-55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spc="-10" dirty="0"/>
              <a:t>prepared</a:t>
            </a:r>
            <a:r>
              <a:rPr spc="-5" dirty="0"/>
              <a:t> </a:t>
            </a:r>
            <a:r>
              <a:rPr spc="-20" dirty="0"/>
              <a:t>and</a:t>
            </a:r>
            <a:r>
              <a:rPr spc="-60" dirty="0"/>
              <a:t> </a:t>
            </a:r>
            <a:r>
              <a:rPr spc="-10" dirty="0"/>
              <a:t>forwarded</a:t>
            </a:r>
            <a:r>
              <a:rPr spc="-35" dirty="0"/>
              <a:t> </a:t>
            </a:r>
            <a:r>
              <a:rPr spc="-10" dirty="0"/>
              <a:t>for</a:t>
            </a:r>
            <a:r>
              <a:rPr spc="-35" dirty="0"/>
              <a:t> </a:t>
            </a:r>
            <a:r>
              <a:rPr spc="-10" dirty="0"/>
              <a:t>prediction generation.</a:t>
            </a:r>
          </a:p>
          <a:p>
            <a:pPr marL="212725" marR="262255" indent="-228600">
              <a:lnSpc>
                <a:spcPct val="150500"/>
              </a:lnSpc>
              <a:spcBef>
                <a:spcPts val="1010"/>
              </a:spcBef>
              <a:buFont typeface="Arial MT"/>
              <a:buChar char="•"/>
              <a:tabLst>
                <a:tab pos="213360" algn="l"/>
              </a:tabLst>
            </a:pPr>
            <a:r>
              <a:rPr b="1" spc="-10" dirty="0">
                <a:latin typeface="Calibri"/>
                <a:cs typeface="Calibri"/>
              </a:rPr>
              <a:t>Final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Outcome: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spc="-10" dirty="0"/>
              <a:t>system</a:t>
            </a:r>
            <a:r>
              <a:rPr spc="-60" dirty="0"/>
              <a:t> </a:t>
            </a:r>
            <a:r>
              <a:rPr spc="-10" dirty="0"/>
              <a:t>generates</a:t>
            </a:r>
            <a:r>
              <a:rPr spc="-20" dirty="0"/>
              <a:t> </a:t>
            </a:r>
            <a:r>
              <a:rPr spc="-10" dirty="0"/>
              <a:t>personalized</a:t>
            </a:r>
            <a:r>
              <a:rPr spc="-25" dirty="0"/>
              <a:t> </a:t>
            </a:r>
            <a:r>
              <a:rPr dirty="0"/>
              <a:t>workout</a:t>
            </a:r>
            <a:r>
              <a:rPr spc="-15" dirty="0"/>
              <a:t> </a:t>
            </a:r>
            <a:r>
              <a:rPr dirty="0"/>
              <a:t>exercises</a:t>
            </a:r>
            <a:r>
              <a:rPr spc="-1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nutrition</a:t>
            </a:r>
            <a:r>
              <a:rPr spc="-40" dirty="0"/>
              <a:t> </a:t>
            </a:r>
            <a:r>
              <a:rPr dirty="0"/>
              <a:t>plans</a:t>
            </a:r>
            <a:r>
              <a:rPr spc="-25" dirty="0"/>
              <a:t> </a:t>
            </a:r>
            <a:r>
              <a:rPr dirty="0"/>
              <a:t>categorized</a:t>
            </a:r>
            <a:r>
              <a:rPr spc="-35" dirty="0"/>
              <a:t> </a:t>
            </a:r>
            <a:r>
              <a:rPr spc="-10" dirty="0"/>
              <a:t>into</a:t>
            </a:r>
            <a:r>
              <a:rPr spc="-60" dirty="0"/>
              <a:t> </a:t>
            </a:r>
            <a:r>
              <a:rPr dirty="0"/>
              <a:t>none,</a:t>
            </a:r>
            <a:r>
              <a:rPr spc="-15" dirty="0"/>
              <a:t> </a:t>
            </a:r>
            <a:r>
              <a:rPr spc="-10" dirty="0"/>
              <a:t>low,</a:t>
            </a:r>
            <a:r>
              <a:rPr spc="-60" dirty="0"/>
              <a:t> </a:t>
            </a:r>
            <a:r>
              <a:rPr dirty="0"/>
              <a:t>medium,</a:t>
            </a:r>
            <a:r>
              <a:rPr spc="-15" dirty="0"/>
              <a:t> </a:t>
            </a:r>
            <a:r>
              <a:rPr dirty="0"/>
              <a:t>or</a:t>
            </a:r>
            <a:r>
              <a:rPr spc="-40" dirty="0"/>
              <a:t> </a:t>
            </a:r>
            <a:r>
              <a:rPr dirty="0"/>
              <a:t>high</a:t>
            </a:r>
            <a:r>
              <a:rPr spc="-25" dirty="0"/>
              <a:t> </a:t>
            </a:r>
            <a:r>
              <a:rPr dirty="0"/>
              <a:t>suitability</a:t>
            </a:r>
            <a:r>
              <a:rPr spc="-20" dirty="0"/>
              <a:t> </a:t>
            </a:r>
            <a:r>
              <a:rPr spc="-10" dirty="0"/>
              <a:t>levels. </a:t>
            </a:r>
            <a:r>
              <a:rPr dirty="0"/>
              <a:t>Results</a:t>
            </a:r>
            <a:r>
              <a:rPr spc="-35" dirty="0"/>
              <a:t> </a:t>
            </a:r>
            <a:r>
              <a:rPr dirty="0"/>
              <a:t>are</a:t>
            </a:r>
            <a:r>
              <a:rPr spc="-25" dirty="0"/>
              <a:t> </a:t>
            </a:r>
            <a:r>
              <a:rPr dirty="0"/>
              <a:t>clearly</a:t>
            </a:r>
            <a:r>
              <a:rPr spc="-10" dirty="0"/>
              <a:t> displayed</a:t>
            </a:r>
            <a:r>
              <a:rPr spc="-35" dirty="0"/>
              <a:t> </a:t>
            </a:r>
            <a:r>
              <a:rPr dirty="0"/>
              <a:t>on</a:t>
            </a:r>
            <a:r>
              <a:rPr spc="-3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interface,</a:t>
            </a:r>
            <a:r>
              <a:rPr spc="-25" dirty="0"/>
              <a:t> </a:t>
            </a:r>
            <a:r>
              <a:rPr spc="-10" dirty="0"/>
              <a:t>enabling</a:t>
            </a:r>
            <a:r>
              <a:rPr spc="-15" dirty="0"/>
              <a:t> </a:t>
            </a:r>
            <a:r>
              <a:rPr dirty="0"/>
              <a:t>users</a:t>
            </a:r>
            <a:r>
              <a:rPr spc="-1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spc="-10" dirty="0"/>
              <a:t>understand</a:t>
            </a:r>
            <a:r>
              <a:rPr spc="-30" dirty="0"/>
              <a:t> </a:t>
            </a:r>
            <a:r>
              <a:rPr spc="-10" dirty="0"/>
              <a:t>recommended</a:t>
            </a:r>
            <a:r>
              <a:rPr spc="-35" dirty="0"/>
              <a:t> </a:t>
            </a:r>
            <a:r>
              <a:rPr dirty="0"/>
              <a:t>intensity and</a:t>
            </a:r>
            <a:r>
              <a:rPr spc="-30" dirty="0"/>
              <a:t> </a:t>
            </a:r>
            <a:r>
              <a:rPr dirty="0"/>
              <a:t>dietary</a:t>
            </a:r>
            <a:r>
              <a:rPr spc="-15" dirty="0"/>
              <a:t> </a:t>
            </a:r>
            <a:r>
              <a:rPr dirty="0"/>
              <a:t>alignment</a:t>
            </a:r>
            <a:r>
              <a:rPr spc="-40" dirty="0"/>
              <a:t> </a:t>
            </a:r>
            <a:r>
              <a:rPr dirty="0"/>
              <a:t>tailored</a:t>
            </a:r>
            <a:r>
              <a:rPr spc="-3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their</a:t>
            </a:r>
            <a:r>
              <a:rPr spc="-30" dirty="0"/>
              <a:t> </a:t>
            </a:r>
            <a:r>
              <a:rPr spc="-10" dirty="0"/>
              <a:t>fitness objectives.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45008"/>
            <a:ext cx="1649730" cy="61569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1148" y="2719527"/>
            <a:ext cx="8676640" cy="176720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 marR="5080">
              <a:lnSpc>
                <a:spcPts val="6509"/>
              </a:lnSpc>
              <a:spcBef>
                <a:spcPts val="890"/>
              </a:spcBef>
            </a:pPr>
            <a:r>
              <a:rPr sz="6000" b="0" spc="-105" dirty="0">
                <a:latin typeface="Calibri Light"/>
                <a:cs typeface="Calibri Light"/>
              </a:rPr>
              <a:t>PERFORMANCE</a:t>
            </a:r>
            <a:r>
              <a:rPr sz="6000" b="0" spc="-254" dirty="0">
                <a:latin typeface="Calibri Light"/>
                <a:cs typeface="Calibri Light"/>
              </a:rPr>
              <a:t> </a:t>
            </a:r>
            <a:r>
              <a:rPr sz="6000" b="0" spc="-85" dirty="0">
                <a:latin typeface="Calibri Light"/>
                <a:cs typeface="Calibri Light"/>
              </a:rPr>
              <a:t>EVALUATION </a:t>
            </a:r>
            <a:r>
              <a:rPr sz="6000" b="0" spc="-10" dirty="0">
                <a:latin typeface="Calibri Light"/>
                <a:cs typeface="Calibri Light"/>
              </a:rPr>
              <a:t>TABLES</a:t>
            </a:r>
            <a:endParaRPr sz="60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45008"/>
            <a:ext cx="1649730" cy="61569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923414">
              <a:lnSpc>
                <a:spcPct val="100000"/>
              </a:lnSpc>
              <a:spcBef>
                <a:spcPts val="95"/>
              </a:spcBef>
            </a:pPr>
            <a:r>
              <a:rPr sz="4400" b="0" spc="-105" dirty="0">
                <a:latin typeface="Calibri Light"/>
                <a:cs typeface="Calibri Light"/>
              </a:rPr>
              <a:t>WORKOUT</a:t>
            </a:r>
            <a:r>
              <a:rPr sz="4400" b="0" spc="-204" dirty="0">
                <a:latin typeface="Calibri Light"/>
                <a:cs typeface="Calibri Light"/>
              </a:rPr>
              <a:t> </a:t>
            </a:r>
            <a:r>
              <a:rPr sz="4400" b="0" spc="-20" dirty="0">
                <a:latin typeface="Calibri Light"/>
                <a:cs typeface="Calibri Light"/>
              </a:rPr>
              <a:t>PLAN</a:t>
            </a:r>
            <a:endParaRPr sz="4400">
              <a:latin typeface="Calibri Light"/>
              <a:cs typeface="Calibri Ligh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88514" y="1814448"/>
          <a:ext cx="8444864" cy="4291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9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6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9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97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1045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sz="2000" b="1" spc="-2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Model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311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Accuracy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311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Precision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311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Recall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311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F1-Score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311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185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525"/>
                        </a:spcBef>
                      </a:pPr>
                      <a:r>
                        <a:rPr sz="155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sz="1550" b="1" spc="1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Forest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936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0.9685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7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0.9700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7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0.9685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7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0.9666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7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185"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sz="155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Decision</a:t>
                      </a:r>
                      <a:r>
                        <a:rPr sz="1550" b="1" spc="1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Tree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93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0.8375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6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0.8428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6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0.8375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6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0.8334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6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CatBoost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93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0.9555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7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0.9584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7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0.9555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7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0.9554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7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1185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XGBoost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93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0.9770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6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0.9779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6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0.9770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6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0.9759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6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1185"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sz="155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KNN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93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0.3795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7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0.3403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7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0.3795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7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0.3415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7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1185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525"/>
                        </a:spcBef>
                      </a:pPr>
                      <a:r>
                        <a:rPr sz="155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Voting</a:t>
                      </a:r>
                      <a:r>
                        <a:rPr sz="1550" b="1" spc="-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Classifier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936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525"/>
                        </a:spcBef>
                      </a:pPr>
                      <a:r>
                        <a:rPr sz="1550" b="1" spc="-10" dirty="0">
                          <a:latin typeface="Times New Roman"/>
                          <a:cs typeface="Times New Roman"/>
                        </a:rPr>
                        <a:t>0.9940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936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525"/>
                        </a:spcBef>
                      </a:pPr>
                      <a:r>
                        <a:rPr sz="1550" b="1" spc="-10" dirty="0">
                          <a:latin typeface="Times New Roman"/>
                          <a:cs typeface="Times New Roman"/>
                        </a:rPr>
                        <a:t>0.9940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936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1525"/>
                        </a:spcBef>
                      </a:pPr>
                      <a:r>
                        <a:rPr sz="1550" b="1" spc="-10" dirty="0">
                          <a:latin typeface="Times New Roman"/>
                          <a:cs typeface="Times New Roman"/>
                        </a:rPr>
                        <a:t>0.9940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936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1525"/>
                        </a:spcBef>
                      </a:pPr>
                      <a:r>
                        <a:rPr sz="1550" b="1" spc="-10" dirty="0">
                          <a:latin typeface="Times New Roman"/>
                          <a:cs typeface="Times New Roman"/>
                        </a:rPr>
                        <a:t>0.9940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936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39432"/>
            <a:ext cx="1636395" cy="6170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1819910">
              <a:lnSpc>
                <a:spcPct val="100000"/>
              </a:lnSpc>
              <a:spcBef>
                <a:spcPts val="95"/>
              </a:spcBef>
            </a:pPr>
            <a:r>
              <a:rPr sz="4400" b="0" spc="-65" dirty="0">
                <a:latin typeface="Calibri Light"/>
                <a:cs typeface="Calibri Light"/>
              </a:rPr>
              <a:t>NUTRITION</a:t>
            </a:r>
            <a:r>
              <a:rPr sz="4400" b="0" spc="-190" dirty="0">
                <a:latin typeface="Calibri Light"/>
                <a:cs typeface="Calibri Light"/>
              </a:rPr>
              <a:t> </a:t>
            </a:r>
            <a:r>
              <a:rPr sz="4400" b="0" spc="-20" dirty="0">
                <a:latin typeface="Calibri Light"/>
                <a:cs typeface="Calibri Light"/>
              </a:rPr>
              <a:t>PLAN</a:t>
            </a:r>
            <a:endParaRPr sz="4400">
              <a:latin typeface="Calibri Light"/>
              <a:cs typeface="Calibri Ligh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978786" y="1857120"/>
          <a:ext cx="8252458" cy="4239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9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2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9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2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97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8345"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79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sz="2000" b="1" spc="-2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Model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279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79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Accuracy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279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79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Precision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279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79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Recall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279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179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F1-Score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279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835"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155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sz="1550" b="1" spc="1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Forest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905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0.9810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4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0.9818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4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0.9810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4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0.9804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4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470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sz="155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Decision</a:t>
                      </a:r>
                      <a:r>
                        <a:rPr sz="1550" b="1" spc="1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Tree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98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0.9440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4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0.9456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4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0.9440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4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0.9436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4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470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CatBoost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98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0.9410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4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0.9427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4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0.9410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4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0.9370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4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470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XGBoost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98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0.9560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4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0.9579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4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0.9560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4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0.9533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4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835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sz="155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KNN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98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0.4420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4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0.3801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4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0.4420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4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0.3773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4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470"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155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Voting</a:t>
                      </a:r>
                      <a:r>
                        <a:rPr sz="1550" b="1" spc="-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Classifier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905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0.9875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4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0.9876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4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0.9875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4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0.9874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84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39432"/>
            <a:ext cx="1636395" cy="6170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376" rIns="0" bIns="0" rtlCol="0">
            <a:spAutoFit/>
          </a:bodyPr>
          <a:lstStyle/>
          <a:p>
            <a:pPr marL="1739900">
              <a:lnSpc>
                <a:spcPct val="100000"/>
              </a:lnSpc>
              <a:spcBef>
                <a:spcPts val="95"/>
              </a:spcBef>
            </a:pPr>
            <a:r>
              <a:rPr sz="4400" b="0" spc="-105" dirty="0">
                <a:latin typeface="Calibri Light"/>
                <a:cs typeface="Calibri Light"/>
              </a:rPr>
              <a:t>COMPARISON</a:t>
            </a:r>
            <a:r>
              <a:rPr sz="4400" b="0" spc="-16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GRAPHS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64130" y="4909388"/>
            <a:ext cx="2479040" cy="268605"/>
          </a:xfrm>
          <a:prstGeom prst="rect">
            <a:avLst/>
          </a:prstGeom>
          <a:solidFill>
            <a:srgbClr val="ACB8C8"/>
          </a:solidFill>
        </p:spPr>
        <p:txBody>
          <a:bodyPr vert="horz" wrap="square" lIns="0" tIns="0" rIns="0" bIns="0" rtlCol="0">
            <a:spAutoFit/>
          </a:bodyPr>
          <a:lstStyle/>
          <a:p>
            <a:pPr marL="615315">
              <a:lnSpc>
                <a:spcPts val="2039"/>
              </a:lnSpc>
            </a:pPr>
            <a:r>
              <a:rPr sz="1800" spc="-20" dirty="0">
                <a:latin typeface="Times New Roman"/>
                <a:cs typeface="Times New Roman"/>
              </a:rPr>
              <a:t>Workout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Plan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36686" y="2314701"/>
            <a:ext cx="1490980" cy="268605"/>
          </a:xfrm>
          <a:prstGeom prst="rect">
            <a:avLst/>
          </a:prstGeom>
          <a:solidFill>
            <a:srgbClr val="ACB8C8"/>
          </a:solidFill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2039"/>
              </a:lnSpc>
            </a:pPr>
            <a:r>
              <a:rPr sz="1800" dirty="0">
                <a:latin typeface="Times New Roman"/>
                <a:cs typeface="Times New Roman"/>
              </a:rPr>
              <a:t>Nutrition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Plan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5965" y="1549908"/>
            <a:ext cx="5129530" cy="299910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4095" y="3012389"/>
            <a:ext cx="5252720" cy="30675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0080" y="439432"/>
            <a:ext cx="1636395" cy="6170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61613" y="2649423"/>
            <a:ext cx="416941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10" dirty="0"/>
              <a:t>EXECUTION</a:t>
            </a:r>
            <a:endParaRPr sz="5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45008"/>
            <a:ext cx="1649730" cy="61569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45008"/>
            <a:ext cx="1627886" cy="6065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080" y="2038324"/>
            <a:ext cx="5027930" cy="395211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34075" y="2074481"/>
            <a:ext cx="5314823" cy="38887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45008"/>
            <a:ext cx="1649730" cy="6156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9300" y="1657921"/>
            <a:ext cx="5335905" cy="450977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18579" y="1708823"/>
            <a:ext cx="5160645" cy="424853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45008"/>
            <a:ext cx="1627886" cy="6065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5985" y="1639544"/>
            <a:ext cx="4883150" cy="429387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18250" y="1694789"/>
            <a:ext cx="4852923" cy="418973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7607" y="1002791"/>
            <a:ext cx="54863" cy="2743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11808" y="998219"/>
            <a:ext cx="268605" cy="0"/>
          </a:xfrm>
          <a:custGeom>
            <a:avLst/>
            <a:gdLst/>
            <a:ahLst/>
            <a:cxnLst/>
            <a:rect l="l" t="t" r="r" b="b"/>
            <a:pathLst>
              <a:path w="268605">
                <a:moveTo>
                  <a:pt x="0" y="0"/>
                </a:moveTo>
                <a:lnTo>
                  <a:pt x="268224" y="0"/>
                </a:lnTo>
              </a:path>
            </a:pathLst>
          </a:custGeom>
          <a:ln w="9144">
            <a:solidFill>
              <a:srgbClr val="67676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03960" y="1004316"/>
            <a:ext cx="173990" cy="0"/>
          </a:xfrm>
          <a:custGeom>
            <a:avLst/>
            <a:gdLst/>
            <a:ahLst/>
            <a:cxnLst/>
            <a:rect l="l" t="t" r="r" b="b"/>
            <a:pathLst>
              <a:path w="173990">
                <a:moveTo>
                  <a:pt x="0" y="0"/>
                </a:moveTo>
                <a:lnTo>
                  <a:pt x="173736" y="0"/>
                </a:lnTo>
              </a:path>
            </a:pathLst>
          </a:custGeom>
          <a:ln w="9144">
            <a:solidFill>
              <a:srgbClr val="67676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665386" y="1528826"/>
            <a:ext cx="1887855" cy="5054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b="0" spc="-540" dirty="0">
                <a:solidFill>
                  <a:srgbClr val="FFFFFF"/>
                </a:solidFill>
                <a:latin typeface="Arial MT"/>
                <a:cs typeface="Arial MT"/>
              </a:rPr>
              <a:t>0urper/02t'Iiieï</a:t>
            </a:r>
            <a:r>
              <a:rPr sz="3150" b="0" spc="-2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50" b="0" spc="-700" dirty="0">
                <a:solidFill>
                  <a:srgbClr val="FFFFFF"/>
                </a:solidFill>
                <a:latin typeface="Arial MT"/>
                <a:cs typeface="Arial MT"/>
              </a:rPr>
              <a:t>pIar</a:t>
            </a:r>
            <a:endParaRPr sz="31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347306" y="1528826"/>
            <a:ext cx="5291455" cy="4773295"/>
            <a:chOff x="6309359" y="1322832"/>
            <a:chExt cx="5291455" cy="477329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64879" y="1926336"/>
              <a:ext cx="115824" cy="670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71103" y="1865376"/>
              <a:ext cx="609600" cy="2133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64879" y="1926336"/>
              <a:ext cx="115824" cy="6705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66047" y="1856232"/>
              <a:ext cx="627888" cy="28955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88479" y="1871472"/>
              <a:ext cx="1094231" cy="27432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09359" y="1322832"/>
              <a:ext cx="5291328" cy="4773167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0080" y="441959"/>
            <a:ext cx="163068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45008"/>
            <a:ext cx="1627886" cy="6065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7900" y="1585518"/>
            <a:ext cx="4866005" cy="43411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21400" y="1585620"/>
            <a:ext cx="5147945" cy="436981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45008"/>
            <a:ext cx="1627886" cy="6065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0594" y="1782445"/>
            <a:ext cx="5075428" cy="418592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95720" y="1269949"/>
            <a:ext cx="5126989" cy="472465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45008"/>
            <a:ext cx="1649730" cy="6156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3105" y="1910067"/>
            <a:ext cx="5266055" cy="41719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62675" y="1480172"/>
            <a:ext cx="5270881" cy="45910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45008"/>
            <a:ext cx="1649730" cy="6159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5000" y="1820545"/>
            <a:ext cx="5228717" cy="40189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05245" y="1078991"/>
            <a:ext cx="5101208" cy="498271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3435" y="1613534"/>
            <a:ext cx="5182870" cy="453898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18250" y="964564"/>
            <a:ext cx="5049265" cy="5181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0080" y="444487"/>
            <a:ext cx="1649730" cy="61647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2990" y="1707025"/>
            <a:ext cx="5303520" cy="42732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97607" y="1002791"/>
            <a:ext cx="54863" cy="2743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511808" y="998219"/>
            <a:ext cx="268605" cy="0"/>
          </a:xfrm>
          <a:custGeom>
            <a:avLst/>
            <a:gdLst/>
            <a:ahLst/>
            <a:cxnLst/>
            <a:rect l="l" t="t" r="r" b="b"/>
            <a:pathLst>
              <a:path w="268605">
                <a:moveTo>
                  <a:pt x="0" y="0"/>
                </a:moveTo>
                <a:lnTo>
                  <a:pt x="268224" y="0"/>
                </a:lnTo>
              </a:path>
            </a:pathLst>
          </a:custGeom>
          <a:ln w="9144">
            <a:solidFill>
              <a:srgbClr val="67676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3960" y="1004316"/>
            <a:ext cx="173990" cy="0"/>
          </a:xfrm>
          <a:custGeom>
            <a:avLst/>
            <a:gdLst/>
            <a:ahLst/>
            <a:cxnLst/>
            <a:rect l="l" t="t" r="r" b="b"/>
            <a:pathLst>
              <a:path w="173990">
                <a:moveTo>
                  <a:pt x="0" y="0"/>
                </a:moveTo>
                <a:lnTo>
                  <a:pt x="173736" y="0"/>
                </a:lnTo>
              </a:path>
            </a:pathLst>
          </a:custGeom>
          <a:ln w="9144">
            <a:solidFill>
              <a:srgbClr val="67676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0080" y="441959"/>
            <a:ext cx="1630680" cy="61264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16017" y="719150"/>
            <a:ext cx="277050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523161"/>
            <a:ext cx="10904855" cy="45688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41300" marR="65405" indent="-228600">
              <a:lnSpc>
                <a:spcPct val="150400"/>
              </a:lnSpc>
              <a:spcBef>
                <a:spcPts val="114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latin typeface="Times New Roman"/>
                <a:cs typeface="Times New Roman"/>
              </a:rPr>
              <a:t>Accurate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prediction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personalized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workout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nutrition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strategies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significantly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improves</a:t>
            </a:r>
            <a:r>
              <a:rPr sz="1400" spc="1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fitness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goal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attainment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by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aligning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training recommendations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individual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characteristics.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developed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machine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learning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framework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successfully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models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dual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targets—</a:t>
            </a:r>
            <a:r>
              <a:rPr sz="1400" dirty="0">
                <a:latin typeface="Times New Roman"/>
                <a:cs typeface="Times New Roman"/>
              </a:rPr>
              <a:t>Workout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Plan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and </a:t>
            </a:r>
            <a:r>
              <a:rPr sz="1400" dirty="0">
                <a:latin typeface="Times New Roman"/>
                <a:cs typeface="Times New Roman"/>
              </a:rPr>
              <a:t>Nutrition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Plan—using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structured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real-</a:t>
            </a:r>
            <a:r>
              <a:rPr sz="1400" dirty="0">
                <a:latin typeface="Times New Roman"/>
                <a:cs typeface="Times New Roman"/>
              </a:rPr>
              <a:t>life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fitness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comprehensive</a:t>
            </a:r>
            <a:r>
              <a:rPr sz="1400" spc="17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preprocessing, </a:t>
            </a:r>
            <a:r>
              <a:rPr sz="1400" dirty="0">
                <a:latin typeface="Times New Roman"/>
                <a:cs typeface="Times New Roman"/>
              </a:rPr>
              <a:t>outlier</a:t>
            </a:r>
            <a:r>
              <a:rPr sz="1400" spc="-10" dirty="0">
                <a:latin typeface="Times New Roman"/>
                <a:cs typeface="Times New Roman"/>
              </a:rPr>
              <a:t> handling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through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IQR,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 label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encoding. Comparative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evaluation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Random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Forest,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Decision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Tree,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KNN,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XGBoost,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CatBoost,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and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ensemble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Voting</a:t>
            </a:r>
            <a:r>
              <a:rPr sz="1400" spc="-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Classifier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demonstrates</a:t>
            </a:r>
            <a:r>
              <a:rPr sz="1400" spc="-10" dirty="0">
                <a:latin typeface="Times New Roman"/>
                <a:cs typeface="Times New Roman"/>
              </a:rPr>
              <a:t> that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ensemble </a:t>
            </a:r>
            <a:r>
              <a:rPr sz="1400" dirty="0">
                <a:latin typeface="Times New Roman"/>
                <a:cs typeface="Times New Roman"/>
              </a:rPr>
              <a:t>learning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provides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superior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generalization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performance.</a:t>
            </a:r>
            <a:endParaRPr sz="1400">
              <a:latin typeface="Times New Roman"/>
              <a:cs typeface="Times New Roman"/>
            </a:endParaRPr>
          </a:p>
          <a:p>
            <a:pPr marL="240029" marR="5080" indent="-227329" algn="just">
              <a:lnSpc>
                <a:spcPct val="1501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spc="-10" dirty="0">
                <a:latin typeface="Times New Roman"/>
                <a:cs typeface="Times New Roman"/>
              </a:rPr>
              <a:t>The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Voting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Classifier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achieved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highest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accuracy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99.40%</a:t>
            </a:r>
            <a:r>
              <a:rPr sz="1400" b="1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Workout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Plan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prediction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98.75%</a:t>
            </a:r>
            <a:r>
              <a:rPr sz="1400" b="1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Nutrition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Plan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prediction,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outperforming 	</a:t>
            </a:r>
            <a:r>
              <a:rPr sz="1400" dirty="0">
                <a:latin typeface="Times New Roman"/>
                <a:cs typeface="Times New Roman"/>
              </a:rPr>
              <a:t>XGBoost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Random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Forest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across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precision,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recall,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 </a:t>
            </a:r>
            <a:r>
              <a:rPr sz="1400" spc="-20" dirty="0">
                <a:latin typeface="Times New Roman"/>
                <a:cs typeface="Times New Roman"/>
              </a:rPr>
              <a:t>F1-</a:t>
            </a:r>
            <a:r>
              <a:rPr sz="1400" dirty="0">
                <a:latin typeface="Times New Roman"/>
                <a:cs typeface="Times New Roman"/>
              </a:rPr>
              <a:t>score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metrics.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These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results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confirm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effectiveness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hybrid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ensemble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strategies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for 	</a:t>
            </a:r>
            <a:r>
              <a:rPr sz="1400" spc="-10" dirty="0">
                <a:latin typeface="Times New Roman"/>
                <a:cs typeface="Times New Roman"/>
              </a:rPr>
              <a:t>multi-</a:t>
            </a:r>
            <a:r>
              <a:rPr sz="1400" dirty="0">
                <a:latin typeface="Times New Roman"/>
                <a:cs typeface="Times New Roman"/>
              </a:rPr>
              <a:t>target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fitness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recommendation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tasks.</a:t>
            </a:r>
            <a:endParaRPr sz="1400">
              <a:latin typeface="Times New Roman"/>
              <a:cs typeface="Times New Roman"/>
            </a:endParaRPr>
          </a:p>
          <a:p>
            <a:pPr marL="241300" marR="165735" indent="-228600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latin typeface="Times New Roman"/>
                <a:cs typeface="Times New Roman"/>
              </a:rPr>
              <a:t>Model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transparency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ensured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through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Explainable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Artificial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Intelligence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techniques,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where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LIME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provides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local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interpretability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individual predictions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SHAP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delivers global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feature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contribution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analysis,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improving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trust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decision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reliability.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Deployment</a:t>
            </a:r>
            <a:r>
              <a:rPr sz="1400" spc="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through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Flask-</a:t>
            </a:r>
            <a:r>
              <a:rPr sz="1400" dirty="0">
                <a:latin typeface="Times New Roman"/>
                <a:cs typeface="Times New Roman"/>
              </a:rPr>
              <a:t>based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web </a:t>
            </a:r>
            <a:r>
              <a:rPr sz="1400" spc="-10" dirty="0">
                <a:latin typeface="Times New Roman"/>
                <a:cs typeface="Times New Roman"/>
              </a:rPr>
              <a:t>application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SQLite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integration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enables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secure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interaction,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real-</a:t>
            </a:r>
            <a:r>
              <a:rPr sz="1400" dirty="0">
                <a:latin typeface="Times New Roman"/>
                <a:cs typeface="Times New Roman"/>
              </a:rPr>
              <a:t>time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inference,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scalable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implementation.</a:t>
            </a:r>
            <a:endParaRPr sz="1400">
              <a:latin typeface="Times New Roman"/>
              <a:cs typeface="Times New Roman"/>
            </a:endParaRPr>
          </a:p>
          <a:p>
            <a:pPr marL="241300" marR="431800" indent="-228600">
              <a:lnSpc>
                <a:spcPct val="151400"/>
              </a:lnSpc>
              <a:spcBef>
                <a:spcPts val="96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spc="-10" dirty="0">
                <a:latin typeface="Times New Roman"/>
                <a:cs typeface="Times New Roman"/>
              </a:rPr>
              <a:t>The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overall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outcome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demonstrates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robust,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interpretable,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high-</a:t>
            </a:r>
            <a:r>
              <a:rPr sz="1400" dirty="0">
                <a:latin typeface="Times New Roman"/>
                <a:cs typeface="Times New Roman"/>
              </a:rPr>
              <a:t>performance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predictive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framework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capable </a:t>
            </a:r>
            <a:r>
              <a:rPr sz="1400" spc="-10" dirty="0">
                <a:latin typeface="Times New Roman"/>
                <a:cs typeface="Times New Roman"/>
              </a:rPr>
              <a:t>of</a:t>
            </a:r>
            <a:r>
              <a:rPr sz="1400" spc="-9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delivering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personalized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fitness recommendations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with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practical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real-</a:t>
            </a:r>
            <a:r>
              <a:rPr sz="1400" dirty="0">
                <a:latin typeface="Times New Roman"/>
                <a:cs typeface="Times New Roman"/>
              </a:rPr>
              <a:t>world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applicability.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39432"/>
            <a:ext cx="1636395" cy="61708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265" rIns="0" bIns="0" rtlCol="0">
            <a:spAutoFit/>
          </a:bodyPr>
          <a:lstStyle/>
          <a:p>
            <a:pPr marL="3075940">
              <a:lnSpc>
                <a:spcPct val="100000"/>
              </a:lnSpc>
              <a:spcBef>
                <a:spcPts val="95"/>
              </a:spcBef>
            </a:pPr>
            <a:r>
              <a:rPr dirty="0"/>
              <a:t>FUTURE</a:t>
            </a:r>
            <a:r>
              <a:rPr spc="114" dirty="0"/>
              <a:t> </a:t>
            </a:r>
            <a:r>
              <a:rPr spc="-10" dirty="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804415"/>
            <a:ext cx="10175240" cy="4060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8760" marR="46990" indent="-226060" algn="just">
              <a:lnSpc>
                <a:spcPct val="1537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dirty="0">
                <a:latin typeface="Times New Roman"/>
                <a:cs typeface="Times New Roman"/>
              </a:rPr>
              <a:t>Future</a:t>
            </a:r>
            <a:r>
              <a:rPr sz="1550" spc="-5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enhancements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can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focus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on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integrating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real-</a:t>
            </a:r>
            <a:r>
              <a:rPr sz="1550" dirty="0">
                <a:latin typeface="Times New Roman"/>
                <a:cs typeface="Times New Roman"/>
              </a:rPr>
              <a:t>time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wearable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sensor</a:t>
            </a:r>
            <a:r>
              <a:rPr sz="1550" spc="-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data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such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as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heart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rate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variability,</a:t>
            </a:r>
            <a:r>
              <a:rPr sz="1550" spc="-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sleep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patterns,</a:t>
            </a:r>
            <a:r>
              <a:rPr sz="1550" spc="-3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step 	</a:t>
            </a:r>
            <a:r>
              <a:rPr sz="1550" dirty="0">
                <a:latin typeface="Times New Roman"/>
                <a:cs typeface="Times New Roman"/>
              </a:rPr>
              <a:t>count,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calorie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expenditure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to</a:t>
            </a:r>
            <a:r>
              <a:rPr sz="1550" spc="-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improve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dynamic</a:t>
            </a:r>
            <a:r>
              <a:rPr sz="1550" spc="20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fitness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recommendation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accuracy.</a:t>
            </a:r>
            <a:endParaRPr sz="1550">
              <a:latin typeface="Times New Roman"/>
              <a:cs typeface="Times New Roman"/>
            </a:endParaRPr>
          </a:p>
          <a:p>
            <a:pPr marL="238760" marR="57150" indent="-226060" algn="just">
              <a:lnSpc>
                <a:spcPct val="15490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dirty="0">
                <a:latin typeface="Times New Roman"/>
                <a:cs typeface="Times New Roman"/>
              </a:rPr>
              <a:t>Incorporating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deep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learning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architectures,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including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LSTM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19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Transformer-</a:t>
            </a:r>
            <a:r>
              <a:rPr sz="1550" dirty="0">
                <a:latin typeface="Times New Roman"/>
                <a:cs typeface="Times New Roman"/>
              </a:rPr>
              <a:t>based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models,</a:t>
            </a:r>
            <a:r>
              <a:rPr sz="1550" spc="1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may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further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capture</a:t>
            </a:r>
            <a:r>
              <a:rPr sz="1550" spc="21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temporal 	</a:t>
            </a:r>
            <a:r>
              <a:rPr sz="1550" dirty="0">
                <a:latin typeface="Times New Roman"/>
                <a:cs typeface="Times New Roman"/>
              </a:rPr>
              <a:t>dependencies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user</a:t>
            </a:r>
            <a:r>
              <a:rPr sz="1550" spc="20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activity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patterns.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Expanding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the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dataset</a:t>
            </a:r>
            <a:r>
              <a:rPr sz="1550" spc="20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to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include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diverse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demographic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clinical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profiles</a:t>
            </a:r>
            <a:r>
              <a:rPr sz="1550" spc="21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would 	</a:t>
            </a:r>
            <a:r>
              <a:rPr sz="1550" dirty="0">
                <a:latin typeface="Times New Roman"/>
                <a:cs typeface="Times New Roman"/>
              </a:rPr>
              <a:t>improve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generalizability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across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broader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populations.</a:t>
            </a:r>
            <a:endParaRPr sz="155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55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spc="-10" dirty="0">
                <a:latin typeface="Times New Roman"/>
                <a:cs typeface="Times New Roman"/>
              </a:rPr>
              <a:t>Multi-</a:t>
            </a:r>
            <a:r>
              <a:rPr sz="1550" dirty="0">
                <a:latin typeface="Times New Roman"/>
                <a:cs typeface="Times New Roman"/>
              </a:rPr>
              <a:t>objective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optimization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techniques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can be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explored</a:t>
            </a:r>
            <a:r>
              <a:rPr sz="1550" spc="20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to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simultaneously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balance</a:t>
            </a:r>
            <a:r>
              <a:rPr sz="1550" spc="1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fitness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effectiveness,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injury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prevention,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nutritional</a:t>
            </a:r>
            <a:r>
              <a:rPr sz="1550" spc="1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adequacy.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Additionally,</a:t>
            </a:r>
            <a:r>
              <a:rPr sz="1550" spc="2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reinforcement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learning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could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be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adopted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to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adapt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recommendations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based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Times New Roman"/>
                <a:cs typeface="Times New Roman"/>
              </a:rPr>
              <a:t>on </a:t>
            </a:r>
            <a:r>
              <a:rPr sz="1550" dirty="0">
                <a:latin typeface="Times New Roman"/>
                <a:cs typeface="Times New Roman"/>
              </a:rPr>
              <a:t>continuous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user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feedback.</a:t>
            </a:r>
            <a:endParaRPr sz="1550">
              <a:latin typeface="Times New Roman"/>
              <a:cs typeface="Times New Roman"/>
            </a:endParaRPr>
          </a:p>
          <a:p>
            <a:pPr marL="241300" marR="207645" indent="-228600">
              <a:lnSpc>
                <a:spcPct val="155000"/>
              </a:lnSpc>
              <a:spcBef>
                <a:spcPts val="955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dirty="0">
                <a:latin typeface="Times New Roman"/>
                <a:cs typeface="Times New Roman"/>
              </a:rPr>
              <a:t>Deployment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scalability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can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be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enhanced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through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cloud-</a:t>
            </a:r>
            <a:r>
              <a:rPr sz="1550" dirty="0">
                <a:latin typeface="Times New Roman"/>
                <a:cs typeface="Times New Roman"/>
              </a:rPr>
              <a:t>native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architectures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RESTful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APIs,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while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federated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learning </a:t>
            </a:r>
            <a:r>
              <a:rPr sz="1550" dirty="0">
                <a:latin typeface="Times New Roman"/>
                <a:cs typeface="Times New Roman"/>
              </a:rPr>
              <a:t>approaches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may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be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considered</a:t>
            </a:r>
            <a:r>
              <a:rPr sz="1550" spc="2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to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ensure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privacy-</a:t>
            </a:r>
            <a:r>
              <a:rPr sz="1550" dirty="0">
                <a:latin typeface="Times New Roman"/>
                <a:cs typeface="Times New Roman"/>
              </a:rPr>
              <a:t>preserving</a:t>
            </a:r>
            <a:r>
              <a:rPr sz="1550" spc="1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model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updates</a:t>
            </a:r>
            <a:r>
              <a:rPr sz="1550" spc="1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across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distributed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user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environments.</a:t>
            </a:r>
            <a:endParaRPr sz="15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45008"/>
            <a:ext cx="1627886" cy="60655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8209" y="719150"/>
            <a:ext cx="274764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536572"/>
            <a:ext cx="10411460" cy="4925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7825" marR="486409" indent="-365760">
              <a:lnSpc>
                <a:spcPct val="156100"/>
              </a:lnSpc>
              <a:spcBef>
                <a:spcPts val="95"/>
              </a:spcBef>
              <a:buAutoNum type="arabicPlain"/>
              <a:tabLst>
                <a:tab pos="381000" algn="l"/>
              </a:tabLst>
            </a:pPr>
            <a:r>
              <a:rPr sz="1550" dirty="0">
                <a:latin typeface="Times New Roman"/>
                <a:cs typeface="Times New Roman"/>
              </a:rPr>
              <a:t>Alsareii,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S.</a:t>
            </a:r>
            <a:r>
              <a:rPr sz="1550" spc="-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A.,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Awais,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M.,</a:t>
            </a:r>
            <a:r>
              <a:rPr sz="1550" spc="-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Alamri,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A.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M.,</a:t>
            </a:r>
            <a:r>
              <a:rPr sz="1550" spc="-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AlAsmari,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M.</a:t>
            </a:r>
            <a:r>
              <a:rPr sz="1550" spc="-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Y.,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Irfan,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M.,</a:t>
            </a:r>
            <a:r>
              <a:rPr sz="1550" spc="-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Aslam,</a:t>
            </a:r>
            <a:r>
              <a:rPr sz="1550" spc="1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N.,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&amp;</a:t>
            </a:r>
            <a:r>
              <a:rPr sz="1550" spc="-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Raza,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M. (2022).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Physical</a:t>
            </a:r>
            <a:r>
              <a:rPr sz="1550" spc="14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activity 	</a:t>
            </a:r>
            <a:r>
              <a:rPr sz="1550" dirty="0">
                <a:latin typeface="Times New Roman"/>
                <a:cs typeface="Times New Roman"/>
              </a:rPr>
              <a:t>monitoring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classification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using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machine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learning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techniques.</a:t>
            </a:r>
            <a:r>
              <a:rPr sz="1550" spc="20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Life,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12(8),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1103.</a:t>
            </a:r>
            <a:endParaRPr sz="1550">
              <a:latin typeface="Times New Roman"/>
              <a:cs typeface="Times New Roman"/>
            </a:endParaRPr>
          </a:p>
          <a:p>
            <a:pPr marL="381000" marR="113664" indent="-368935">
              <a:lnSpc>
                <a:spcPct val="155500"/>
              </a:lnSpc>
              <a:spcBef>
                <a:spcPts val="975"/>
              </a:spcBef>
              <a:buAutoNum type="arabicPlain"/>
              <a:tabLst>
                <a:tab pos="381000" algn="l"/>
              </a:tabLst>
            </a:pPr>
            <a:r>
              <a:rPr sz="1550" dirty="0">
                <a:latin typeface="Times New Roman"/>
                <a:cs typeface="Times New Roman"/>
              </a:rPr>
              <a:t>Vairavasundaram,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S.,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Varadarajan,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V.,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Srinivasan,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D.,</a:t>
            </a:r>
            <a:r>
              <a:rPr sz="1550" spc="-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Balaganesh,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V.,</a:t>
            </a:r>
            <a:r>
              <a:rPr sz="1550" spc="-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Damerla,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S.</a:t>
            </a:r>
            <a:r>
              <a:rPr sz="1550" spc="-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B.,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Swaminathan,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B.,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&amp;</a:t>
            </a:r>
            <a:r>
              <a:rPr sz="1550" spc="-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Ravi,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L.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(2022). </a:t>
            </a:r>
            <a:r>
              <a:rPr sz="1550" dirty="0">
                <a:latin typeface="Times New Roman"/>
                <a:cs typeface="Times New Roman"/>
              </a:rPr>
              <a:t>Dynamic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physical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activity</a:t>
            </a:r>
            <a:r>
              <a:rPr sz="1550" spc="1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recommendation</a:t>
            </a:r>
            <a:r>
              <a:rPr sz="1550" spc="1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delivered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through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mobile</a:t>
            </a:r>
            <a:r>
              <a:rPr sz="1550" spc="20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fitness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app: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deep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learning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approach.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Axioms, </a:t>
            </a:r>
            <a:r>
              <a:rPr sz="1550" dirty="0">
                <a:latin typeface="Times New Roman"/>
                <a:cs typeface="Times New Roman"/>
              </a:rPr>
              <a:t>11(7),</a:t>
            </a:r>
            <a:r>
              <a:rPr sz="1550" spc="-3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346.</a:t>
            </a:r>
            <a:endParaRPr sz="1550">
              <a:latin typeface="Times New Roman"/>
              <a:cs typeface="Times New Roman"/>
            </a:endParaRPr>
          </a:p>
          <a:p>
            <a:pPr marL="381000" marR="5080" indent="-368935">
              <a:lnSpc>
                <a:spcPct val="154900"/>
              </a:lnSpc>
              <a:spcBef>
                <a:spcPts val="985"/>
              </a:spcBef>
              <a:buAutoNum type="arabicPlain"/>
              <a:tabLst>
                <a:tab pos="381000" algn="l"/>
              </a:tabLst>
            </a:pPr>
            <a:r>
              <a:rPr sz="1550" dirty="0">
                <a:latin typeface="Times New Roman"/>
                <a:cs typeface="Times New Roman"/>
              </a:rPr>
              <a:t>Tragos,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E.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Z.,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O'Reilly-</a:t>
            </a:r>
            <a:r>
              <a:rPr sz="1550" dirty="0">
                <a:latin typeface="Times New Roman"/>
                <a:cs typeface="Times New Roman"/>
              </a:rPr>
              <a:t>Morgan,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D.,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Geraci,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J.,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Shi,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B.,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Smyth,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B.,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Doherty,</a:t>
            </a:r>
            <a:r>
              <a:rPr sz="1550" spc="20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C.,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...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&amp;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Hurley,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N.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(2023,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August).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Keeping </a:t>
            </a:r>
            <a:r>
              <a:rPr sz="1550" dirty="0">
                <a:latin typeface="Times New Roman"/>
                <a:cs typeface="Times New Roman"/>
              </a:rPr>
              <a:t>People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Active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Healthy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at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Home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Using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Reinforcement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Learning-</a:t>
            </a:r>
            <a:r>
              <a:rPr sz="1550" dirty="0">
                <a:latin typeface="Times New Roman"/>
                <a:cs typeface="Times New Roman"/>
              </a:rPr>
              <a:t>based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Fitness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Recommendation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Framework.</a:t>
            </a:r>
            <a:r>
              <a:rPr sz="1550" spc="2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IJCAI </a:t>
            </a:r>
            <a:r>
              <a:rPr sz="1550" dirty="0">
                <a:latin typeface="Times New Roman"/>
                <a:cs typeface="Times New Roman"/>
              </a:rPr>
              <a:t>(pp.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6237-6245).</a:t>
            </a:r>
            <a:endParaRPr sz="1550">
              <a:latin typeface="Times New Roman"/>
              <a:cs typeface="Times New Roman"/>
            </a:endParaRPr>
          </a:p>
          <a:p>
            <a:pPr marL="381000" marR="159385" indent="-368935">
              <a:lnSpc>
                <a:spcPct val="154800"/>
              </a:lnSpc>
              <a:spcBef>
                <a:spcPts val="965"/>
              </a:spcBef>
              <a:buAutoNum type="arabicPlain"/>
              <a:tabLst>
                <a:tab pos="381000" algn="l"/>
              </a:tabLst>
            </a:pPr>
            <a:r>
              <a:rPr sz="1550" dirty="0">
                <a:latin typeface="Times New Roman"/>
                <a:cs typeface="Times New Roman"/>
              </a:rPr>
              <a:t>Li,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G.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(2022).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Construction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of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sports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training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performance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prediction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model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based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on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generative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adversarial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deep</a:t>
            </a:r>
            <a:r>
              <a:rPr sz="1550" spc="10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neural </a:t>
            </a:r>
            <a:r>
              <a:rPr sz="1550" dirty="0">
                <a:latin typeface="Times New Roman"/>
                <a:cs typeface="Times New Roman"/>
              </a:rPr>
              <a:t>network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algorithm.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Computational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Intelligence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Neuroscience,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2022(1),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1211238.</a:t>
            </a:r>
            <a:endParaRPr sz="1550">
              <a:latin typeface="Times New Roman"/>
              <a:cs typeface="Times New Roman"/>
            </a:endParaRPr>
          </a:p>
          <a:p>
            <a:pPr marL="381000" marR="145415" indent="-368935">
              <a:lnSpc>
                <a:spcPct val="155000"/>
              </a:lnSpc>
              <a:spcBef>
                <a:spcPts val="1005"/>
              </a:spcBef>
              <a:buAutoNum type="arabicPlain"/>
              <a:tabLst>
                <a:tab pos="381000" algn="l"/>
              </a:tabLst>
            </a:pPr>
            <a:r>
              <a:rPr sz="1550" dirty="0">
                <a:latin typeface="Times New Roman"/>
                <a:cs typeface="Times New Roman"/>
              </a:rPr>
              <a:t>Li,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J.,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Gong,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R.,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&amp;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Wang,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G.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(2024).</a:t>
            </a:r>
            <a:r>
              <a:rPr sz="1550" spc="-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Enhancing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fitness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action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recognition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with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ResNet-</a:t>
            </a:r>
            <a:r>
              <a:rPr sz="1550" dirty="0">
                <a:latin typeface="Times New Roman"/>
                <a:cs typeface="Times New Roman"/>
              </a:rPr>
              <a:t>TransFit: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Integrating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IoT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deep </a:t>
            </a:r>
            <a:r>
              <a:rPr sz="1550" dirty="0">
                <a:latin typeface="Times New Roman"/>
                <a:cs typeface="Times New Roman"/>
              </a:rPr>
              <a:t>learning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techniques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for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real-</a:t>
            </a:r>
            <a:r>
              <a:rPr sz="1550" dirty="0">
                <a:latin typeface="Times New Roman"/>
                <a:cs typeface="Times New Roman"/>
              </a:rPr>
              <a:t>time</a:t>
            </a:r>
            <a:r>
              <a:rPr sz="1550" spc="2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monitoring.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Alexandria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Engineering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Journal,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109,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89-101.</a:t>
            </a:r>
            <a:endParaRPr sz="15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439432"/>
            <a:ext cx="1636395" cy="617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2972</Words>
  <Application>Microsoft Office PowerPoint</Application>
  <PresentationFormat>Widescreen</PresentationFormat>
  <Paragraphs>238</Paragraphs>
  <Slides>41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Second review</vt:lpstr>
      <vt:lpstr>ABSTRACT</vt:lpstr>
      <vt:lpstr>PROBLEM STATEMENT</vt:lpstr>
      <vt:lpstr>INTRODUCTION</vt:lpstr>
      <vt:lpstr>LITERATURE SURVEY</vt:lpstr>
      <vt:lpstr>LITERATURE SURVEY</vt:lpstr>
      <vt:lpstr>LITERATURE SURVEY</vt:lpstr>
      <vt:lpstr>          DATASET DESCRIPTION</vt:lpstr>
      <vt:lpstr>DISADVANTAGES OF EXISTING SYSTEM</vt:lpstr>
      <vt:lpstr>PROPOSED SYSTEM</vt:lpstr>
      <vt:lpstr>ADVANTAGES OF PROPOSED SYSTEM</vt:lpstr>
      <vt:lpstr>REQUIREMENTS</vt:lpstr>
      <vt:lpstr>SYSTEM ARCHITECTURE</vt:lpstr>
      <vt:lpstr>DATA FLOW DIAGRAM</vt:lpstr>
      <vt:lpstr>UML DIAGRAMS</vt:lpstr>
      <vt:lpstr>USE CASE DIAGRAM</vt:lpstr>
      <vt:lpstr>CLASS DIAGRAM</vt:lpstr>
      <vt:lpstr>ACTIVITY DIAGRAM</vt:lpstr>
      <vt:lpstr>COLLABORATION DIAGRAM</vt:lpstr>
      <vt:lpstr>COMPONENT DIAGRAM</vt:lpstr>
      <vt:lpstr>FLOW OF WORK/WORKING MODULES</vt:lpstr>
      <vt:lpstr>FLOW OF WORK/WORKING MODULES</vt:lpstr>
      <vt:lpstr>FLOW OF WORK/WORKING MODULES</vt:lpstr>
      <vt:lpstr>PERFORMANCE EVALUATION TABLES</vt:lpstr>
      <vt:lpstr>WORKOUT PLAN</vt:lpstr>
      <vt:lpstr>NUTRITION PLAN</vt:lpstr>
      <vt:lpstr>COMPARISON GRAPHS</vt:lpstr>
      <vt:lpstr>EXECUTION</vt:lpstr>
      <vt:lpstr>PowerPoint Presentation</vt:lpstr>
      <vt:lpstr>PowerPoint Presentation</vt:lpstr>
      <vt:lpstr>PowerPoint Presentation</vt:lpstr>
      <vt:lpstr>0urper/02t'Iiieï pIar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FUTURE SCOPE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Second review</dc:title>
  <dc:creator>dell</dc:creator>
  <cp:lastModifiedBy>Mohammed Lamih</cp:lastModifiedBy>
  <cp:revision>4</cp:revision>
  <dcterms:created xsi:type="dcterms:W3CDTF">2026-03-06T20:04:18Z</dcterms:created>
  <dcterms:modified xsi:type="dcterms:W3CDTF">2026-03-07T03:03:26Z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2026-03-06T00:00:00Z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2026-03-06T00:00:00Z</vt:filetime>
  </property>
  <property fmtid="{D5CDD505-2E9C-101B-9397-08002B2CF9AE}" pid="5" name="Producer">
    <vt:lpwstr>www.ilovepdf.com</vt:lpwstr>
  </property>
</Properties>
</file>